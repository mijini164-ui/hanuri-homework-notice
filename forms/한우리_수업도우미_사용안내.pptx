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63093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96926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A"/>
                </a:solidFill>
              </a:rPr>
              <a:t>한우리 수업도우미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FC3EA"/>
                </a:solidFill>
              </a:rPr>
              <a:t>한우리 선생님들께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82880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한우리 수업도우미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이렇게 써요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776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DFF0"/>
                </a:solidFill>
              </a:rPr>
              <a:t>반 명단 엑셀 하나로 수업계획서, 숙제 안내문,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6DFF0"/>
                </a:solidFill>
              </a:rPr>
              <a:t>학생 피드백까지 한 페이지에서 만들어요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78040" y="685800"/>
            <a:ext cx="2423160" cy="548640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수업계획서 예시">    </p:cNvPr>
          <p:cNvPicPr>
            <a:picLocks noChangeAspect="1"/>
          </p:cNvPicPr>
          <p:nvPr/>
        </p:nvPicPr>
        <p:blipFill>
          <a:blip r:embed="rId1"/>
          <a:srcRect l="0" r="0" t="0" b="-4698"/>
          <a:stretch/>
        </p:blipFill>
        <p:spPr>
          <a:xfrm>
            <a:off x="7269480" y="777240"/>
            <a:ext cx="224028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281160" y="283464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0DC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1" descr="숙제 안내문 예시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2880360"/>
            <a:ext cx="2423160" cy="171325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178040" y="6263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FC3EA"/>
                </a:solidFill>
              </a:rPr>
              <a:t>수업계획서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9281160" y="47548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FC3EA"/>
                </a:solidFill>
              </a:rPr>
              <a:t>숙제 안내문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한 페이지에 탭이 세 개 있어요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298448"/>
            <a:ext cx="2446126" cy="4855464"/>
          </a:xfrm>
          <a:prstGeom prst="roundRect">
            <a:avLst>
              <a:gd name="adj" fmla="val 4486"/>
            </a:avLst>
          </a:prstGeom>
          <a:solidFill>
            <a:srgbClr val="FFFFFF"/>
          </a:solidFill>
          <a:ln w="12700">
            <a:solidFill>
              <a:srgbClr val="C9D0DC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A">
                <a:alpha val="18000"/>
              </a:srgbClr>
            </a:outerShdw>
          </a:effectLst>
        </p:spPr>
      </p:sp>
      <p:pic>
        <p:nvPicPr>
          <p:cNvPr id="4" name="Image 0" descr="수업 도우미 첫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299822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0" y="137160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840480" y="1645920"/>
            <a:ext cx="274320" cy="274320"/>
          </a:xfrm>
          <a:prstGeom prst="ellipse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251960" y="1444752"/>
            <a:ext cx="3246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550"/>
                </a:solidFill>
              </a:rPr>
              <a:t>수업계획서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B6680"/>
                </a:solidFill>
              </a:rPr>
              <a:t>학부모님께 보낼 달력형 수업계획서 이미지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57600" y="233172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40480" y="2606040"/>
            <a:ext cx="274320" cy="274320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51960" y="2404872"/>
            <a:ext cx="3246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550"/>
                </a:solidFill>
              </a:rPr>
              <a:t>숙제 안내문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B6680"/>
                </a:solidFill>
              </a:rPr>
              <a:t>교재에 붙일 숙제 안내문 (A4에 두 개)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657600" y="3291840"/>
            <a:ext cx="39319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40480" y="3566160"/>
            <a:ext cx="274320" cy="274320"/>
          </a:xfrm>
          <a:prstGeom prst="ellipse">
            <a:avLst/>
          </a:prstGeom>
          <a:solidFill>
            <a:srgbClr val="D9533A"/>
          </a:solidFill>
          <a:ln w="12700">
            <a:solidFill>
              <a:srgbClr val="D953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251960" y="3364992"/>
            <a:ext cx="3246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3550"/>
                </a:solidFill>
              </a:rPr>
              <a:t>피드백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B6680"/>
                </a:solidFill>
              </a:rPr>
              <a:t>반 공통 + 학생별 피드백 문장과 이미지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3657600" y="4343400"/>
            <a:ext cx="3931920" cy="1737360"/>
          </a:xfrm>
          <a:prstGeom prst="roundRect">
            <a:avLst>
              <a:gd name="adj" fmla="val 7368"/>
            </a:avLst>
          </a:prstGeom>
          <a:solidFill>
            <a:srgbClr val="FFF4D6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886200" y="448056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3550"/>
                </a:solidFill>
              </a:rPr>
              <a:t>반 명단 엑셀은 한 번만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3550"/>
                </a:solidFill>
              </a:rPr>
              <a:t>어느 탭에서 올려도 다른 두 탭에 같이 들어가요.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7863840" y="1371600"/>
            <a:ext cx="3749040" cy="470916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</p:spPr>
      </p:sp>
      <p:pic>
        <p:nvPicPr>
          <p:cNvPr id="17" name="Image 1" descr="수업 도우미 QR 코드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1645920"/>
            <a:ext cx="2560320" cy="25603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955280" y="43434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4A"/>
                </a:solidFill>
              </a:rPr>
              <a:t>수업도우미 열기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7955280" y="48006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80"/>
                </a:solidFill>
              </a:rPr>
              <a:t>휴대폰 카메라로 비추거나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680"/>
                </a:solidFill>
              </a:rPr>
              <a:t>단톡방에 올라온 링크로 열어요.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680"/>
                </a:solidFill>
              </a:rPr>
              <a:t>로그인하지 않아도 돼요.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시작하기 전에, 엑셀 양식을 받아요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389888"/>
            <a:ext cx="5266944" cy="5388864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C9D0DC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A">
                <a:alpha val="18000"/>
              </a:srgbClr>
            </a:outerShdw>
          </a:effectLst>
        </p:spPr>
      </p:sp>
      <p:pic>
        <p:nvPicPr>
          <p:cNvPr id="4" name="Image 0" descr="엑셀 양식 받기 메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120640" cy="5242560"/>
          </a:xfrm>
          <a:prstGeom prst="rect">
            <a:avLst/>
          </a:prstGeom>
        </p:spPr>
      </p:pic>
      <p:sp>
        <p:nvSpPr>
          <p:cNvPr id="5" name="num1"/>
          <p:cNvSpPr/>
          <p:nvPr/>
        </p:nvSpPr>
        <p:spPr>
          <a:xfrm>
            <a:off x="6400800" y="1572768"/>
            <a:ext cx="384048" cy="384048"/>
          </a:xfrm>
          <a:prstGeom prst="ellipse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1517904"/>
            <a:ext cx="4663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550"/>
                </a:solidFill>
              </a:rPr>
              <a:t>맨 위 '양식·안내 받기'를 눌러요</a:t>
            </a:r>
            <a:endParaRPr lang="en-US" sz="1700" dirty="0"/>
          </a:p>
        </p:txBody>
      </p:sp>
      <p:sp>
        <p:nvSpPr>
          <p:cNvPr id="8" name="num2"/>
          <p:cNvSpPr/>
          <p:nvPr/>
        </p:nvSpPr>
        <p:spPr>
          <a:xfrm>
            <a:off x="6400800" y="2761488"/>
            <a:ext cx="384048" cy="384048"/>
          </a:xfrm>
          <a:prstGeom prst="ellipse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2706624"/>
            <a:ext cx="4663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550"/>
                </a:solidFill>
              </a:rPr>
              <a:t>필요한 양식을 눌러 내려받아요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680"/>
                </a:solidFill>
              </a:rPr>
              <a:t>반 명단 엑셀(이름으로 적기·팀 이름으로 적기), 숙제 엑셀(빈칸), HTML 파일 하나</a:t>
            </a:r>
            <a:endParaRPr lang="en-US" sz="1700" dirty="0"/>
          </a:p>
        </p:txBody>
      </p:sp>
      <p:sp>
        <p:nvSpPr>
          <p:cNvPr id="11" name="num3"/>
          <p:cNvSpPr/>
          <p:nvPr/>
        </p:nvSpPr>
        <p:spPr>
          <a:xfrm>
            <a:off x="6400800" y="3950208"/>
            <a:ext cx="384048" cy="384048"/>
          </a:xfrm>
          <a:prstGeom prst="ellipse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3895344"/>
            <a:ext cx="4663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550"/>
                </a:solidFill>
              </a:rPr>
              <a:t>양식에 우리 반을 적어요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680"/>
                </a:solidFill>
              </a:rPr>
              <a:t>첫 줄 제목은 그대로 두고 아래 줄만 바꿔요</a:t>
            </a:r>
            <a:endParaRPr lang="en-US" sz="1700" dirty="0"/>
          </a:p>
        </p:txBody>
      </p:sp>
      <p:sp>
        <p:nvSpPr>
          <p:cNvPr id="14" name="card"/>
          <p:cNvSpPr/>
          <p:nvPr/>
        </p:nvSpPr>
        <p:spPr>
          <a:xfrm>
            <a:off x="6400800" y="5166360"/>
            <a:ext cx="5212080" cy="914400"/>
          </a:xfrm>
          <a:prstGeom prst="roundRect">
            <a:avLst>
              <a:gd name="adj" fmla="val 14000"/>
            </a:avLst>
          </a:prstGeom>
          <a:solidFill>
            <a:srgbClr val="EAF1FC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83680" y="51663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A"/>
                </a:solidFill>
              </a:rPr>
              <a:t>받은 파일 이름이 메뉴 이름과 같아요. 컴퓨터에서 받으면 편하고, 휴대폰에서는 엑셀 앱으로 열어 고쳐요.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FC3EA"/>
                </a:solidFill>
              </a:rPr>
              <a:t>1부</a:t>
            </a:r>
            <a:endParaRPr lang="en-US" sz="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월간 수업계획서 만들기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DFF0"/>
                </a:solidFill>
              </a:rPr>
              <a:t>다섯 단계면 끝나요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1971446" cy="1828800"/>
          </a:xfrm>
          <a:prstGeom prst="roundRect">
            <a:avLst>
              <a:gd name="adj" fmla="val 8000"/>
            </a:avLst>
          </a:prstGeom>
          <a:solidFill>
            <a:srgbClr val="2B3A63"/>
          </a:solidFill>
          <a:ln w="12700">
            <a:solidFill>
              <a:srgbClr val="3D4E7A"/>
            </a:solidFill>
            <a:prstDash val="solid"/>
          </a:ln>
        </p:spPr>
      </p:sp>
      <p:sp>
        <p:nvSpPr>
          <p:cNvPr id="6" name="num1"/>
          <p:cNvSpPr/>
          <p:nvPr/>
        </p:nvSpPr>
        <p:spPr>
          <a:xfrm>
            <a:off x="914400" y="36576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4A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97680"/>
            <a:ext cx="15142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반 명단 엑셀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작성하기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867558" y="3383280"/>
            <a:ext cx="1971446" cy="1828800"/>
          </a:xfrm>
          <a:prstGeom prst="roundRect">
            <a:avLst>
              <a:gd name="adj" fmla="val 8000"/>
            </a:avLst>
          </a:prstGeom>
          <a:solidFill>
            <a:srgbClr val="2B3A63"/>
          </a:solidFill>
          <a:ln w="12700">
            <a:solidFill>
              <a:srgbClr val="3D4E7A"/>
            </a:solidFill>
            <a:prstDash val="solid"/>
          </a:ln>
        </p:spPr>
      </p:sp>
      <p:sp>
        <p:nvSpPr>
          <p:cNvPr id="10" name="num2"/>
          <p:cNvSpPr/>
          <p:nvPr/>
        </p:nvSpPr>
        <p:spPr>
          <a:xfrm>
            <a:off x="3141878" y="36576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41878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4A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141878" y="4297680"/>
            <a:ext cx="15142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수업계획서 탭에서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엑셀 올리기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095037" y="3383280"/>
            <a:ext cx="1971446" cy="1828800"/>
          </a:xfrm>
          <a:prstGeom prst="roundRect">
            <a:avLst>
              <a:gd name="adj" fmla="val 8000"/>
            </a:avLst>
          </a:prstGeom>
          <a:solidFill>
            <a:srgbClr val="2B3A63"/>
          </a:solidFill>
          <a:ln w="12700">
            <a:solidFill>
              <a:srgbClr val="3D4E7A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5369357" y="36576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69357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4A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369357" y="4297680"/>
            <a:ext cx="15142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확인하고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글자 고치기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322515" y="3383280"/>
            <a:ext cx="1971446" cy="1828800"/>
          </a:xfrm>
          <a:prstGeom prst="roundRect">
            <a:avLst>
              <a:gd name="adj" fmla="val 8000"/>
            </a:avLst>
          </a:prstGeom>
          <a:solidFill>
            <a:srgbClr val="2B3A63"/>
          </a:solidFill>
          <a:ln w="12700">
            <a:solidFill>
              <a:srgbClr val="3D4E7A"/>
            </a:solidFill>
            <a:prstDash val="solid"/>
          </a:ln>
        </p:spPr>
      </p:sp>
      <p:sp>
        <p:nvSpPr>
          <p:cNvPr id="18" name="num4"/>
          <p:cNvSpPr/>
          <p:nvPr/>
        </p:nvSpPr>
        <p:spPr>
          <a:xfrm>
            <a:off x="7596835" y="36576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96835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4A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596835" y="4297680"/>
            <a:ext cx="15142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이미지로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만들고 저장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549994" y="3383280"/>
            <a:ext cx="1971446" cy="1828800"/>
          </a:xfrm>
          <a:prstGeom prst="roundRect">
            <a:avLst>
              <a:gd name="adj" fmla="val 8000"/>
            </a:avLst>
          </a:prstGeom>
          <a:solidFill>
            <a:srgbClr val="2B3A63"/>
          </a:solidFill>
          <a:ln w="12700">
            <a:solidFill>
              <a:srgbClr val="3D4E7A"/>
            </a:solidFill>
            <a:prstDash val="solid"/>
          </a:ln>
        </p:spPr>
      </p:sp>
      <p:sp>
        <p:nvSpPr>
          <p:cNvPr id="22" name="num5"/>
          <p:cNvSpPr/>
          <p:nvPr/>
        </p:nvSpPr>
        <p:spPr>
          <a:xfrm>
            <a:off x="9824314" y="36576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824314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4A"/>
                </a:solidFill>
              </a:rPr>
              <a:t>5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824314" y="4297680"/>
            <a:ext cx="15142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학부모님께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보내기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엑셀은 이렇게 적어요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24128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BD0"/>
                </a:solidFill>
              </a:rPr>
              <a:t>1단계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280160"/>
            <a:ext cx="11064240" cy="310896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</p:spPr>
      </p:sp>
      <p:pic>
        <p:nvPicPr>
          <p:cNvPr id="6" name="Image 0" descr="반 명단 엑셀 예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389888"/>
            <a:ext cx="9601200" cy="2905741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548640" y="4892040"/>
            <a:ext cx="352044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029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BD0"/>
                </a:solidFill>
              </a:rPr>
              <a:t>같은 반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394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550"/>
                </a:solidFill>
              </a:rPr>
              <a:t>둘째 줄부터 이름만 적고 나머지 칸은 비워 둬요. No 칸을 합쳐도 돼요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4325112" y="4892040"/>
            <a:ext cx="352044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3712" y="5029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BD0"/>
                </a:solidFill>
              </a:rPr>
              <a:t>수업일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3712" y="5394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550"/>
                </a:solidFill>
              </a:rPr>
              <a:t>'11월 2일, 9일'처럼 적어요. 10월 수업이면 10월 책, 11월이면 11월 책이 자동으로 들어가요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8101584" y="4892040"/>
            <a:ext cx="352044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30184" y="5029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BD0"/>
                </a:solidFill>
              </a:rPr>
              <a:t>수업월호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330184" y="5394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550"/>
                </a:solidFill>
              </a:rPr>
              <a:t>어느 달·호 계획안인지 적어요. 11월에 10월호 수업이면 '10월', 호 과정은 '2호'. 비우면 수업일의 달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4805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80"/>
                </a:solidFill>
              </a:rPr>
              <a:t>첫 줄 제목(No, 팀 여부, 이름, 수업요일, 단계, 수업월호, 수업일, 특이사항, 인원)은 그대로 두세요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단계 칸과 특이사항 칸이 중요해요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24128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BD0"/>
                </a:solidFill>
              </a:rPr>
              <a:t>1단계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280160"/>
            <a:ext cx="6035040" cy="4892040"/>
          </a:xfrm>
          <a:prstGeom prst="roundRect">
            <a:avLst>
              <a:gd name="adj" fmla="val 2617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508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A"/>
                </a:solidFill>
              </a:rPr>
              <a:t>단계 칸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057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550"/>
                </a:solidFill>
              </a:rPr>
              <a:t>매달 바뀌는 과정은 그대로 적어요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514600"/>
            <a:ext cx="1188720" cy="384048"/>
          </a:xfrm>
          <a:prstGeom prst="roundRect">
            <a:avLst>
              <a:gd name="adj" fmla="val 23810"/>
            </a:avLst>
          </a:prstGeom>
          <a:solidFill>
            <a:srgbClr val="EAF1FC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514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A"/>
                </a:solidFill>
              </a:rPr>
              <a:t>독서1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94560" y="2514600"/>
            <a:ext cx="1188720" cy="384048"/>
          </a:xfrm>
          <a:prstGeom prst="roundRect">
            <a:avLst>
              <a:gd name="adj" fmla="val 23810"/>
            </a:avLst>
          </a:prstGeom>
          <a:solidFill>
            <a:srgbClr val="EAF1FC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94560" y="2514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A"/>
                </a:solidFill>
              </a:rPr>
              <a:t>논리2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20440" y="2514600"/>
            <a:ext cx="1188720" cy="384048"/>
          </a:xfrm>
          <a:prstGeom prst="roundRect">
            <a:avLst>
              <a:gd name="adj" fmla="val 23810"/>
            </a:avLst>
          </a:prstGeom>
          <a:solidFill>
            <a:srgbClr val="EAF1FC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2514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A"/>
                </a:solidFill>
              </a:rPr>
              <a:t>소1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2514600"/>
            <a:ext cx="1188720" cy="384048"/>
          </a:xfrm>
          <a:prstGeom prst="roundRect">
            <a:avLst>
              <a:gd name="adj" fmla="val 23810"/>
            </a:avLst>
          </a:prstGeom>
          <a:solidFill>
            <a:srgbClr val="EAF1FC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2514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A"/>
                </a:solidFill>
              </a:rPr>
              <a:t>새싹2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550"/>
                </a:solidFill>
              </a:rPr>
              <a:t>호로 나가는 과정은 호수까지 적어요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" y="3611880"/>
            <a:ext cx="1188720" cy="384048"/>
          </a:xfrm>
          <a:prstGeom prst="roundRect">
            <a:avLst>
              <a:gd name="adj" fmla="val 23810"/>
            </a:avLst>
          </a:prstGeom>
          <a:solidFill>
            <a:srgbClr val="EAF1FC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3611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A"/>
                </a:solidFill>
              </a:rPr>
              <a:t>몰입C1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194560" y="3611880"/>
            <a:ext cx="1874520" cy="384048"/>
          </a:xfrm>
          <a:prstGeom prst="roundRect">
            <a:avLst>
              <a:gd name="adj" fmla="val 23810"/>
            </a:avLst>
          </a:prstGeom>
          <a:solidFill>
            <a:srgbClr val="EAF1FC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94560" y="36118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A"/>
                </a:solidFill>
              </a:rPr>
              <a:t>세계사통사2호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06240" y="361188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EAF1FC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06240" y="3611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A"/>
                </a:solidFill>
              </a:rPr>
              <a:t>교과문학탐독1호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550"/>
                </a:solidFill>
              </a:rPr>
              <a:t>호수가 없으면 책을 찾지 못해요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68680" y="4709160"/>
            <a:ext cx="118872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4709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trike="sngStrike" dirty="0">
                <a:solidFill>
                  <a:srgbClr val="C0392B"/>
                </a:solidFill>
              </a:rPr>
              <a:t>세계사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194560" y="4709160"/>
            <a:ext cx="118872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194560" y="4709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trike="sngStrike" dirty="0">
                <a:solidFill>
                  <a:srgbClr val="C0392B"/>
                </a:solidFill>
              </a:rPr>
              <a:t>고등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" y="52578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80"/>
                </a:solidFill>
              </a:rPr>
              <a:t>이렇게 적으면 페이지에서 과정을 직접 골라야 해요</a:t>
            </a:r>
            <a:endParaRPr lang="en-US" sz="1300" dirty="0"/>
          </a:p>
        </p:txBody>
      </p:sp>
      <p:sp>
        <p:nvSpPr>
          <p:cNvPr id="29" name="card"/>
          <p:cNvSpPr/>
          <p:nvPr/>
        </p:nvSpPr>
        <p:spPr>
          <a:xfrm>
            <a:off x="6858000" y="1280160"/>
            <a:ext cx="47548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32320" y="1508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A"/>
                </a:solidFill>
              </a:rPr>
              <a:t>특이사항 칸 = 맨 아래 인사말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132320" y="2103120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FFF4D6"/>
          </a:solidFill>
          <a:ln w="12700">
            <a:solidFill>
              <a:srgbClr val="E9D9A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69480" y="2103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550"/>
                </a:solidFill>
              </a:rPr>
              <a:t>11월 17일은 보강이 있어요. 감사합니다^^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28803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80"/>
                </a:solidFill>
              </a:rPr>
              <a:t>적은 문구가 수업계획서 맨 아래 인사말로 들어가요.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680"/>
                </a:solidFill>
              </a:rPr>
              <a:t>비워 두면 기본 인사말이 들어가요.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0" y="36118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4AA"/>
                </a:solidFill>
              </a:rPr>
              <a:t>기본: 안녕하세요 한우리입니다. ○월 수업계획서입니다. 확인 부탁드립니다. 감사합니다^^</a:t>
            </a:r>
            <a:endParaRPr lang="en-US" sz="1100" dirty="0"/>
          </a:p>
        </p:txBody>
      </p:sp>
      <p:sp>
        <p:nvSpPr>
          <p:cNvPr id="35" name="card"/>
          <p:cNvSpPr/>
          <p:nvPr/>
        </p:nvSpPr>
        <p:spPr>
          <a:xfrm>
            <a:off x="6858000" y="4526280"/>
            <a:ext cx="4754880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32320" y="47091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A"/>
                </a:solidFill>
              </a:rPr>
              <a:t>두 과정을 번갈아 하는 반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7132320" y="51663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80"/>
                </a:solidFill>
              </a:rPr>
              <a:t>과정마다 한 줄씩 단계와 수업일을 따로 적고, No 칸만 합쳐 주세요.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수업계획서 탭에서 엑셀을 올려요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24128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BD0"/>
                </a:solidFill>
              </a:rPr>
              <a:t>2단계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548640" y="1280160"/>
            <a:ext cx="4023360" cy="489204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</p:spPr>
      </p:sp>
      <p:pic>
        <p:nvPicPr>
          <p:cNvPr id="6" name="Image 0" descr="수업 도우미 QR 코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554480"/>
            <a:ext cx="2743200" cy="2743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4434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4A"/>
                </a:solidFill>
              </a:rPr>
              <a:t>수업도우미 → 수업계획서 탭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892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680"/>
                </a:solidFill>
              </a:rPr>
              <a:t>여기서 올린 반 명단은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680"/>
                </a:solidFill>
              </a:rPr>
              <a:t>숙제·피드백 탭에도 같이 들어가요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910328" y="1298448"/>
            <a:ext cx="3371642" cy="2706624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C9D0DC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A">
                <a:alpha val="18000"/>
              </a:srgbClr>
            </a:outerShdw>
          </a:effectLst>
        </p:spPr>
      </p:sp>
      <p:pic>
        <p:nvPicPr>
          <p:cNvPr id="10" name="Image 1" descr="페이지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71600"/>
            <a:ext cx="3225338" cy="2560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385048" y="1298448"/>
            <a:ext cx="3094091" cy="2706624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C9D0DC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A">
                <a:alpha val="18000"/>
              </a:srgbClr>
            </a:outerShdw>
          </a:effectLst>
        </p:spPr>
      </p:sp>
      <p:pic>
        <p:nvPicPr>
          <p:cNvPr id="12" name="Image 2" descr="페이지 화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371600"/>
            <a:ext cx="2947787" cy="2560320"/>
          </a:xfrm>
          <a:prstGeom prst="rect">
            <a:avLst/>
          </a:prstGeom>
        </p:spPr>
      </p:pic>
      <p:sp>
        <p:nvSpPr>
          <p:cNvPr id="13" name="num1"/>
          <p:cNvSpPr/>
          <p:nvPr/>
        </p:nvSpPr>
        <p:spPr>
          <a:xfrm>
            <a:off x="4937760" y="5001768"/>
            <a:ext cx="384048" cy="384048"/>
          </a:xfrm>
          <a:prstGeom prst="ellipse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937760" y="5001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0" y="4946904"/>
            <a:ext cx="6126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B3550"/>
                </a:solidFill>
              </a:rPr>
              <a:t>'여기를 눌러 엑셀 파일을 고르세요'를 눌러요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B6680"/>
                </a:solidFill>
              </a:rPr>
              <a:t>컴퓨터에서는 파일을 끌어다 놓아도 돼요</a:t>
            </a:r>
            <a:endParaRPr lang="en-US" sz="1600" dirty="0"/>
          </a:p>
        </p:txBody>
      </p:sp>
      <p:sp>
        <p:nvSpPr>
          <p:cNvPr id="16" name="num2"/>
          <p:cNvSpPr/>
          <p:nvPr/>
        </p:nvSpPr>
        <p:spPr>
          <a:xfrm>
            <a:off x="4937760" y="5660136"/>
            <a:ext cx="384048" cy="384048"/>
          </a:xfrm>
          <a:prstGeom prst="ellipse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937760" y="5660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0" y="5605272"/>
            <a:ext cx="6126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B3550"/>
                </a:solidFill>
              </a:rPr>
              <a:t>'○개 반을 찾았어요'가 나오면 다 된 거예요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반별로 확인하고 글자를 고쳐요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24128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BD0"/>
                </a:solidFill>
              </a:rPr>
              <a:t>3단계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2848952" cy="4855464"/>
          </a:xfrm>
          <a:prstGeom prst="roundRect">
            <a:avLst>
              <a:gd name="adj" fmla="val 3852"/>
            </a:avLst>
          </a:prstGeom>
          <a:solidFill>
            <a:srgbClr val="FFFFFF"/>
          </a:solidFill>
          <a:ln w="12700">
            <a:solidFill>
              <a:srgbClr val="C9D0DC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A">
                <a:alpha val="18000"/>
              </a:srgbClr>
            </a:outerShdw>
          </a:effectLst>
        </p:spPr>
      </p:sp>
      <p:pic>
        <p:nvPicPr>
          <p:cNvPr id="6" name="Image 0" descr="페이지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702648" cy="4709160"/>
          </a:xfrm>
          <a:prstGeom prst="rect">
            <a:avLst/>
          </a:prstGeom>
        </p:spPr>
      </p:pic>
      <p:sp>
        <p:nvSpPr>
          <p:cNvPr id="7" name="num1"/>
          <p:cNvSpPr/>
          <p:nvPr/>
        </p:nvSpPr>
        <p:spPr>
          <a:xfrm>
            <a:off x="3977640" y="1481328"/>
            <a:ext cx="384048" cy="384048"/>
          </a:xfrm>
          <a:prstGeom prst="ellipse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97764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1426464"/>
            <a:ext cx="32918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550"/>
                </a:solidFill>
              </a:rPr>
              <a:t>이름과 수업일이 맞는지 확인해요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680"/>
                </a:solidFill>
              </a:rPr>
              <a:t>반마다 미리보기가 하나씩 나와요</a:t>
            </a:r>
            <a:endParaRPr lang="en-US" sz="1700" dirty="0"/>
          </a:p>
        </p:txBody>
      </p:sp>
      <p:sp>
        <p:nvSpPr>
          <p:cNvPr id="10" name="num2"/>
          <p:cNvSpPr/>
          <p:nvPr/>
        </p:nvSpPr>
        <p:spPr>
          <a:xfrm>
            <a:off x="3977640" y="2715768"/>
            <a:ext cx="384048" cy="384048"/>
          </a:xfrm>
          <a:prstGeom prst="ellipse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97764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2660904"/>
            <a:ext cx="32918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550"/>
                </a:solidFill>
              </a:rPr>
              <a:t>점선 글자를 누르면 고치는 칸이 열려요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680"/>
                </a:solidFill>
              </a:rPr>
              <a:t>제목, 수업시간, 필독서, 소개, 인사말 모두 고칠 수 있어요</a:t>
            </a:r>
            <a:endParaRPr lang="en-US" sz="1700" dirty="0"/>
          </a:p>
        </p:txBody>
      </p:sp>
      <p:sp>
        <p:nvSpPr>
          <p:cNvPr id="13" name="num3"/>
          <p:cNvSpPr/>
          <p:nvPr/>
        </p:nvSpPr>
        <p:spPr>
          <a:xfrm>
            <a:off x="3977640" y="3950208"/>
            <a:ext cx="384048" cy="384048"/>
          </a:xfrm>
          <a:prstGeom prst="ellipse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7764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3895344"/>
            <a:ext cx="32918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550"/>
                </a:solidFill>
              </a:rPr>
              <a:t>다 고치면 '다 고쳤어요'를 눌러요</a:t>
            </a:r>
            <a:endParaRPr lang="en-US" sz="1700" dirty="0"/>
          </a:p>
        </p:txBody>
      </p:sp>
      <p:sp>
        <p:nvSpPr>
          <p:cNvPr id="16" name="card"/>
          <p:cNvSpPr/>
          <p:nvPr/>
        </p:nvSpPr>
        <p:spPr>
          <a:xfrm>
            <a:off x="8138160" y="1280160"/>
            <a:ext cx="3474720" cy="489204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508760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869680" y="1490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7A3F"/>
                </a:solidFill>
              </a:rPr>
              <a:t>노란 안내가 뜨면</a:t>
            </a:r>
            <a:endParaRPr lang="en-US" sz="1700" dirty="0"/>
          </a:p>
        </p:txBody>
      </p:sp>
      <p:pic>
        <p:nvPicPr>
          <p:cNvPr id="19" name="Image 2" descr="노란 안내 화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103120"/>
            <a:ext cx="3017520" cy="2560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66760" y="4846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550"/>
                </a:solidFill>
              </a:rPr>
              <a:t>단계 이름을 찾지 못한 경우예요.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3550"/>
                </a:solidFill>
              </a:rPr>
              <a:t>'과정' 목록에서 맞는 과정을 골라 주세요.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이미지로 만들고 저장해요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24128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BD0"/>
                </a:solidFill>
              </a:rPr>
              <a:t>4단계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3842766" cy="4626864"/>
          </a:xfrm>
          <a:prstGeom prst="roundRect">
            <a:avLst>
              <a:gd name="adj" fmla="val 2855"/>
            </a:avLst>
          </a:prstGeom>
          <a:solidFill>
            <a:srgbClr val="FFFFFF"/>
          </a:solidFill>
          <a:ln w="12700">
            <a:solidFill>
              <a:srgbClr val="C9D0DC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A">
                <a:alpha val="18000"/>
              </a:srgbClr>
            </a:outerShdw>
          </a:effectLst>
        </p:spPr>
      </p:sp>
      <p:pic>
        <p:nvPicPr>
          <p:cNvPr id="6" name="Image 0" descr="페이지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3696462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81728" y="1298448"/>
            <a:ext cx="2237232" cy="4626864"/>
          </a:xfrm>
          <a:prstGeom prst="roundRect">
            <a:avLst>
              <a:gd name="adj" fmla="val 4905"/>
            </a:avLst>
          </a:prstGeom>
          <a:solidFill>
            <a:srgbClr val="FFFFFF"/>
          </a:solidFill>
          <a:ln w="12700">
            <a:solidFill>
              <a:srgbClr val="C9D0DC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A">
                <a:alpha val="18000"/>
              </a:srgbClr>
            </a:outerShdw>
          </a:effectLst>
        </p:spPr>
      </p:sp>
      <p:pic>
        <p:nvPicPr>
          <p:cNvPr id="8" name="Image 1" descr="페이지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2090928" cy="4480560"/>
          </a:xfrm>
          <a:prstGeom prst="rect">
            <a:avLst/>
          </a:prstGeom>
        </p:spPr>
      </p:pic>
      <p:sp>
        <p:nvSpPr>
          <p:cNvPr id="9" name="num1"/>
          <p:cNvSpPr/>
          <p:nvPr/>
        </p:nvSpPr>
        <p:spPr>
          <a:xfrm>
            <a:off x="7269480" y="1481328"/>
            <a:ext cx="384048" cy="384048"/>
          </a:xfrm>
          <a:prstGeom prst="ellipse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2694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818120" y="1426464"/>
            <a:ext cx="3794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550"/>
                </a:solidFill>
              </a:rPr>
              <a:t>'이미지로 만들기'를 눌러요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680"/>
                </a:solidFill>
              </a:rPr>
              <a:t>고친 그대로 그림이 만들어져요</a:t>
            </a:r>
            <a:endParaRPr lang="en-US" sz="1700" dirty="0"/>
          </a:p>
        </p:txBody>
      </p:sp>
      <p:sp>
        <p:nvSpPr>
          <p:cNvPr id="12" name="num2"/>
          <p:cNvSpPr/>
          <p:nvPr/>
        </p:nvSpPr>
        <p:spPr>
          <a:xfrm>
            <a:off x="7269480" y="2715768"/>
            <a:ext cx="384048" cy="384048"/>
          </a:xfrm>
          <a:prstGeom prst="ellipse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26948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818120" y="2660904"/>
            <a:ext cx="3794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550"/>
                </a:solidFill>
              </a:rPr>
              <a:t>'이미지 저장'을 눌러요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680"/>
                </a:solidFill>
              </a:rPr>
              <a:t>휴대폰·컴퓨터에 그림 파일로 저장돼요</a:t>
            </a:r>
            <a:endParaRPr lang="en-US" sz="1700" dirty="0"/>
          </a:p>
        </p:txBody>
      </p:sp>
      <p:sp>
        <p:nvSpPr>
          <p:cNvPr id="15" name="num3"/>
          <p:cNvSpPr/>
          <p:nvPr/>
        </p:nvSpPr>
        <p:spPr>
          <a:xfrm>
            <a:off x="7269480" y="3950208"/>
            <a:ext cx="384048" cy="384048"/>
          </a:xfrm>
          <a:prstGeom prst="ellipse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26948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7818120" y="3895344"/>
            <a:ext cx="3794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550"/>
                </a:solidFill>
              </a:rPr>
              <a:t>고친 뒤에는 다시 만들어요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680"/>
                </a:solidFill>
              </a:rPr>
              <a:t>글자를 고치면 만들어 둔 그림이 사라져요</a:t>
            </a:r>
            <a:endParaRPr lang="en-US" sz="1700" dirty="0"/>
          </a:p>
        </p:txBody>
      </p:sp>
      <p:sp>
        <p:nvSpPr>
          <p:cNvPr id="18" name="card"/>
          <p:cNvSpPr/>
          <p:nvPr/>
        </p:nvSpPr>
        <p:spPr>
          <a:xfrm>
            <a:off x="7269480" y="5212080"/>
            <a:ext cx="4343400" cy="868680"/>
          </a:xfrm>
          <a:prstGeom prst="roundRect">
            <a:avLst>
              <a:gd name="adj" fmla="val 14737"/>
            </a:avLst>
          </a:prstGeom>
          <a:solidFill>
            <a:srgbClr val="EAF1FC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452360" y="52120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A"/>
                </a:solidFill>
              </a:rPr>
              <a:t>컴퓨터에서는 '전체 한 번에 저장(zip)'으로 모든 반을 한꺼번에 받을 수 있어요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학부모님께 보내요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24128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BD0"/>
                </a:solidFill>
              </a:rPr>
              <a:t>5단계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2228979" cy="4855464"/>
          </a:xfrm>
          <a:prstGeom prst="roundRect">
            <a:avLst>
              <a:gd name="adj" fmla="val 4923"/>
            </a:avLst>
          </a:prstGeom>
          <a:solidFill>
            <a:srgbClr val="FFFFFF"/>
          </a:solidFill>
          <a:ln w="12700">
            <a:solidFill>
              <a:srgbClr val="C9D0DC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A">
                <a:alpha val="18000"/>
              </a:srgbClr>
            </a:outerShdw>
          </a:effectLst>
        </p:spPr>
      </p:sp>
      <p:pic>
        <p:nvPicPr>
          <p:cNvPr id="6" name="Image 0" descr="완성된 수업계획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082675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46120" y="2514600"/>
            <a:ext cx="822960" cy="822960"/>
          </a:xfrm>
          <a:prstGeom prst="ellipse">
            <a:avLst/>
          </a:prstGeom>
          <a:solidFill>
            <a:srgbClr val="1F2A4A"/>
          </a:solidFill>
          <a:ln w="12700">
            <a:solidFill>
              <a:srgbClr val="1F2A4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630" y="2712110"/>
            <a:ext cx="427939" cy="42793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246120" y="14173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4A"/>
                </a:solidFill>
              </a:rPr>
              <a:t>저장한 이미지를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2A4A"/>
                </a:solidFill>
              </a:rPr>
              <a:t>카톡으로 보내면 끝이에요</a:t>
            </a:r>
            <a:endParaRPr lang="en-US" sz="1800" dirty="0"/>
          </a:p>
        </p:txBody>
      </p:sp>
      <p:sp>
        <p:nvSpPr>
          <p:cNvPr id="10" name="card"/>
          <p:cNvSpPr/>
          <p:nvPr/>
        </p:nvSpPr>
        <p:spPr>
          <a:xfrm>
            <a:off x="6400800" y="1280160"/>
            <a:ext cx="5212080" cy="4892040"/>
          </a:xfrm>
          <a:prstGeom prst="roundRect">
            <a:avLst>
              <a:gd name="adj" fmla="val 2617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A"/>
                </a:solidFill>
              </a:rPr>
              <a:t>이럴 땐 이렇게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67512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550"/>
                </a:solidFill>
              </a:rPr>
              <a:t>'책 정보 없음'이 나와요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675120" y="242316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80"/>
                </a:solidFill>
              </a:rPr>
              <a:t>수업일이 차시보다 많거나 그달 계획안이 아직 없을 때예요. 지부장에게 알려 주세요.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675120" y="3063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550"/>
                </a:solidFill>
              </a:rPr>
              <a:t>'이미지 저장' 버튼이 안 보여요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675120" y="34290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80"/>
                </a:solidFill>
              </a:rPr>
              <a:t>먼저 '이미지로 만들기'를 눌러 주세요.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675120" y="4069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550"/>
                </a:solidFill>
              </a:rPr>
              <a:t>휴대폰에서 저장이 안 돼요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6675120" y="443484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80"/>
                </a:solidFill>
              </a:rPr>
              <a:t>저장을 누르면 공유 창이 열려요. 안 되면 그림이 크게 뜨니 길게 눌러 저장해요. 카톡 링크는 기본 브라우저로 다시 열려요.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675120" y="5074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550"/>
                </a:solidFill>
              </a:rPr>
              <a:t>반이 이상하게 합쳐졌어요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6675120" y="54406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80"/>
                </a:solidFill>
              </a:rPr>
              <a:t>No 칸과 병합한 칸을 다시 확인해 주세요.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B48C"/>
                </a:solidFill>
              </a:rPr>
              <a:t>2부</a:t>
            </a:r>
            <a:endParaRPr lang="en-US" sz="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월간 숙제 안내문 만들기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DFF0"/>
                </a:solidFill>
              </a:rPr>
              <a:t>네 단계면 끝나요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2528316" cy="1828800"/>
          </a:xfrm>
          <a:prstGeom prst="roundRect">
            <a:avLst>
              <a:gd name="adj" fmla="val 8000"/>
            </a:avLst>
          </a:prstGeom>
          <a:solidFill>
            <a:srgbClr val="2B3A63"/>
          </a:solidFill>
          <a:ln w="12700">
            <a:solidFill>
              <a:srgbClr val="3D4E7A"/>
            </a:solidFill>
            <a:prstDash val="solid"/>
          </a:ln>
        </p:spPr>
      </p:sp>
      <p:sp>
        <p:nvSpPr>
          <p:cNvPr id="6" name="num1"/>
          <p:cNvSpPr/>
          <p:nvPr/>
        </p:nvSpPr>
        <p:spPr>
          <a:xfrm>
            <a:off x="914400" y="36576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4A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97680"/>
            <a:ext cx="20711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반 명단이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들어왔는지 확인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24428" y="3383280"/>
            <a:ext cx="2528316" cy="1828800"/>
          </a:xfrm>
          <a:prstGeom prst="roundRect">
            <a:avLst>
              <a:gd name="adj" fmla="val 8000"/>
            </a:avLst>
          </a:prstGeom>
          <a:solidFill>
            <a:srgbClr val="2B3A63"/>
          </a:solidFill>
          <a:ln w="12700">
            <a:solidFill>
              <a:srgbClr val="3D4E7A"/>
            </a:solidFill>
            <a:prstDash val="solid"/>
          </a:ln>
        </p:spPr>
      </p:sp>
      <p:sp>
        <p:nvSpPr>
          <p:cNvPr id="10" name="num2"/>
          <p:cNvSpPr/>
          <p:nvPr/>
        </p:nvSpPr>
        <p:spPr>
          <a:xfrm>
            <a:off x="3698748" y="36576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98748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4A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698748" y="4297680"/>
            <a:ext cx="20711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숙제 적기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(화면 또는 엑셀)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08776" y="3383280"/>
            <a:ext cx="2528316" cy="1828800"/>
          </a:xfrm>
          <a:prstGeom prst="roundRect">
            <a:avLst>
              <a:gd name="adj" fmla="val 8000"/>
            </a:avLst>
          </a:prstGeom>
          <a:solidFill>
            <a:srgbClr val="2B3A63"/>
          </a:solidFill>
          <a:ln w="12700">
            <a:solidFill>
              <a:srgbClr val="3D4E7A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6483096" y="36576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83096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4A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83096" y="4297680"/>
            <a:ext cx="20711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반별로 확인하고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장 수 맞추기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93124" y="3383280"/>
            <a:ext cx="2528316" cy="1828800"/>
          </a:xfrm>
          <a:prstGeom prst="roundRect">
            <a:avLst>
              <a:gd name="adj" fmla="val 8000"/>
            </a:avLst>
          </a:prstGeom>
          <a:solidFill>
            <a:srgbClr val="2B3A63"/>
          </a:solidFill>
          <a:ln w="12700">
            <a:solidFill>
              <a:srgbClr val="3D4E7A"/>
            </a:solidFill>
            <a:prstDash val="solid"/>
          </a:ln>
        </p:spPr>
      </p:sp>
      <p:sp>
        <p:nvSpPr>
          <p:cNvPr id="18" name="num4"/>
          <p:cNvSpPr/>
          <p:nvPr/>
        </p:nvSpPr>
        <p:spPr>
          <a:xfrm>
            <a:off x="9267444" y="36576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67444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4A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267444" y="4297680"/>
            <a:ext cx="20711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PDF·사진으로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저장하고 출력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반 명단은 이미 들어와 있어요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24128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BD0"/>
                </a:solidFill>
              </a:rPr>
              <a:t>1단계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2446126" cy="4855464"/>
          </a:xfrm>
          <a:prstGeom prst="roundRect">
            <a:avLst>
              <a:gd name="adj" fmla="val 4486"/>
            </a:avLst>
          </a:prstGeom>
          <a:solidFill>
            <a:srgbClr val="FFFFFF"/>
          </a:solidFill>
          <a:ln w="12700">
            <a:solidFill>
              <a:srgbClr val="C9D0DC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A">
                <a:alpha val="18000"/>
              </a:srgbClr>
            </a:outerShdw>
          </a:effectLst>
        </p:spPr>
      </p:sp>
      <p:pic>
        <p:nvPicPr>
          <p:cNvPr id="6" name="Image 0" descr="반 명단이 들어온 숙제 안내문 탭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299822" cy="4709160"/>
          </a:xfrm>
          <a:prstGeom prst="rect">
            <a:avLst/>
          </a:prstGeom>
        </p:spPr>
      </p:pic>
      <p:sp>
        <p:nvSpPr>
          <p:cNvPr id="7" name="num1"/>
          <p:cNvSpPr/>
          <p:nvPr/>
        </p:nvSpPr>
        <p:spPr>
          <a:xfrm>
            <a:off x="3840480" y="1481328"/>
            <a:ext cx="384048" cy="384048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8404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389120" y="1426464"/>
            <a:ext cx="31089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550"/>
                </a:solidFill>
              </a:rPr>
              <a:t>반 명단 칸에 파일 이름이 보여요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680"/>
                </a:solidFill>
              </a:rPr>
              <a:t>수업계획서 탭에서 올린 명단이 같이 들어와요. 비어 있으면 여기서 올려도 돼요</a:t>
            </a:r>
            <a:endParaRPr lang="en-US" sz="1700" dirty="0"/>
          </a:p>
        </p:txBody>
      </p:sp>
      <p:sp>
        <p:nvSpPr>
          <p:cNvPr id="10" name="num2"/>
          <p:cNvSpPr/>
          <p:nvPr/>
        </p:nvSpPr>
        <p:spPr>
          <a:xfrm>
            <a:off x="3840480" y="2944368"/>
            <a:ext cx="384048" cy="384048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4048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389120" y="2889504"/>
            <a:ext cx="31089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550"/>
                </a:solidFill>
              </a:rPr>
              <a:t>숙제 엑셀은 없어도 돼요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680"/>
                </a:solidFill>
              </a:rPr>
              <a:t>다음 단계에서 화면에 바로 적을 수 있어요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7818120" y="1280160"/>
            <a:ext cx="3794760" cy="4892040"/>
          </a:xfrm>
          <a:prstGeom prst="roundRect">
            <a:avLst>
              <a:gd name="adj" fmla="val 3373"/>
            </a:avLst>
          </a:prstGeom>
          <a:solidFill>
            <a:srgbClr val="FFF4D6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46720" y="1508760"/>
            <a:ext cx="33832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3550"/>
                </a:solidFill>
              </a:rPr>
              <a:t>팀 이름으로 적었다면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3550"/>
                </a:solidFill>
              </a:rPr>
              <a:t>'인원' 칸에 학생 수를 적어 주세요. 숙제 안내문 장 수가 자동으로 맞춰져요.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355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680"/>
                </a:solidFill>
              </a:rPr>
              <a:t>예) 이름: 목요일 1팀 → 인원: 3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숙제는 화면에 바로 적어요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24128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BD0"/>
                </a:solidFill>
              </a:rPr>
              <a:t>2단계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2190682" cy="4855464"/>
          </a:xfrm>
          <a:prstGeom prst="roundRect">
            <a:avLst>
              <a:gd name="adj" fmla="val 5009"/>
            </a:avLst>
          </a:prstGeom>
          <a:solidFill>
            <a:srgbClr val="FFFFFF"/>
          </a:solidFill>
          <a:ln w="12700">
            <a:solidFill>
              <a:srgbClr val="C9D0DC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A">
                <a:alpha val="18000"/>
              </a:srgbClr>
            </a:outerShdw>
          </a:effectLst>
        </p:spPr>
      </p:sp>
      <p:pic>
        <p:nvPicPr>
          <p:cNvPr id="6" name="Image 0" descr="숙제 적기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044378" cy="4709160"/>
          </a:xfrm>
          <a:prstGeom prst="rect">
            <a:avLst/>
          </a:prstGeom>
        </p:spPr>
      </p:pic>
      <p:sp>
        <p:nvSpPr>
          <p:cNvPr id="7" name="num1"/>
          <p:cNvSpPr/>
          <p:nvPr/>
        </p:nvSpPr>
        <p:spPr>
          <a:xfrm>
            <a:off x="4114800" y="1481328"/>
            <a:ext cx="384048" cy="384048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11480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1426464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B3550"/>
                </a:solidFill>
              </a:rPr>
              <a:t>우리 반 과정만 차시별로 나와요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680"/>
                </a:solidFill>
              </a:rPr>
              <a:t>차시 옆에 그날 필독서가 보여요</a:t>
            </a:r>
            <a:endParaRPr lang="en-US" sz="1500" dirty="0"/>
          </a:p>
        </p:txBody>
      </p:sp>
      <p:sp>
        <p:nvSpPr>
          <p:cNvPr id="10" name="num2"/>
          <p:cNvSpPr/>
          <p:nvPr/>
        </p:nvSpPr>
        <p:spPr>
          <a:xfrm>
            <a:off x="4114800" y="2651760"/>
            <a:ext cx="384048" cy="384048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2596896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B3550"/>
                </a:solidFill>
              </a:rPr>
              <a:t>자주 쓰는 숙제 버튼을 누르면 칸에 들어가요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680"/>
                </a:solidFill>
              </a:rPr>
              <a:t>'1.' '①'로 시작하는 줄이 숙제 한 개, 번호 없는 줄은 덧붙임 글이에요</a:t>
            </a:r>
            <a:endParaRPr lang="en-US" sz="1500" dirty="0"/>
          </a:p>
        </p:txBody>
      </p:sp>
      <p:sp>
        <p:nvSpPr>
          <p:cNvPr id="13" name="num3"/>
          <p:cNvSpPr/>
          <p:nvPr/>
        </p:nvSpPr>
        <p:spPr>
          <a:xfrm>
            <a:off x="4114800" y="3822192"/>
            <a:ext cx="384048" cy="384048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1480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376732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B3550"/>
                </a:solidFill>
              </a:rPr>
              <a:t>같은 과정을 듣는 반에는 모두 들어가요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680"/>
                </a:solidFill>
              </a:rPr>
              <a:t>10월 반과 11월 반은 '독서리더1 (10월)'처럼 따로 적어요</a:t>
            </a:r>
            <a:endParaRPr lang="en-US" sz="1500" dirty="0"/>
          </a:p>
        </p:txBody>
      </p:sp>
      <p:sp>
        <p:nvSpPr>
          <p:cNvPr id="16" name="num4"/>
          <p:cNvSpPr/>
          <p:nvPr/>
        </p:nvSpPr>
        <p:spPr>
          <a:xfrm>
            <a:off x="4114800" y="4992624"/>
            <a:ext cx="384048" cy="384048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114800" y="4992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663440" y="49377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B3550"/>
                </a:solidFill>
              </a:rPr>
              <a:t>적은 숙제는 이 기기에 남아요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680"/>
                </a:solidFill>
              </a:rPr>
              <a:t>다음에 열어도 그대로예요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8321040" y="1280160"/>
            <a:ext cx="3291840" cy="4892040"/>
          </a:xfrm>
          <a:prstGeom prst="roundRect">
            <a:avLst>
              <a:gd name="adj" fmla="val 3889"/>
            </a:avLst>
          </a:prstGeom>
          <a:solidFill>
            <a:srgbClr val="EAF1FC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49640" y="1508760"/>
            <a:ext cx="2880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A"/>
                </a:solidFill>
              </a:rPr>
              <a:t>엑셀이 편하다면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4A"/>
                </a:solidFill>
              </a:rPr>
              <a:t>'숙제 엑셀 양식 받기'를 누르면 우리 반 과정·차시·필독서가 미리 들어간 엑셀이 나와요. 숙제 칸만 채워 1단계 '숙제 엑셀'에 올리면 돼요.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반별로 확인하고 장 수를 맞춰요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24128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BD0"/>
                </a:solidFill>
              </a:rPr>
              <a:t>3단계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3398538" cy="4855464"/>
          </a:xfrm>
          <a:prstGeom prst="roundRect">
            <a:avLst>
              <a:gd name="adj" fmla="val 3229"/>
            </a:avLst>
          </a:prstGeom>
          <a:solidFill>
            <a:srgbClr val="FFFFFF"/>
          </a:solidFill>
          <a:ln w="12700">
            <a:solidFill>
              <a:srgbClr val="C9D0DC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A">
                <a:alpha val="18000"/>
              </a:srgbClr>
            </a:outerShdw>
          </a:effectLst>
        </p:spPr>
      </p:sp>
      <p:pic>
        <p:nvPicPr>
          <p:cNvPr id="6" name="Image 0" descr="반별 숙제 안내문 확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3252234" cy="4709160"/>
          </a:xfrm>
          <a:prstGeom prst="rect">
            <a:avLst/>
          </a:prstGeom>
        </p:spPr>
      </p:pic>
      <p:sp>
        <p:nvSpPr>
          <p:cNvPr id="7" name="num1"/>
          <p:cNvSpPr/>
          <p:nvPr/>
        </p:nvSpPr>
        <p:spPr>
          <a:xfrm>
            <a:off x="4343400" y="1481328"/>
            <a:ext cx="384048" cy="384048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34340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1426464"/>
            <a:ext cx="32004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550"/>
                </a:solidFill>
              </a:rPr>
              <a:t>학생 수만 맞춰요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680"/>
                </a:solidFill>
              </a:rPr>
              <a:t>A4 한 장에 두 개씩 들어가서 2명당 1장만 인쇄돼요 (3명이면 2장)</a:t>
            </a:r>
            <a:endParaRPr lang="en-US" sz="1700" dirty="0"/>
          </a:p>
        </p:txBody>
      </p:sp>
      <p:sp>
        <p:nvSpPr>
          <p:cNvPr id="10" name="num2"/>
          <p:cNvSpPr/>
          <p:nvPr/>
        </p:nvSpPr>
        <p:spPr>
          <a:xfrm>
            <a:off x="4343400" y="2715768"/>
            <a:ext cx="384048" cy="384048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4340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2660904"/>
            <a:ext cx="32004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550"/>
                </a:solidFill>
              </a:rPr>
              <a:t>체크를 빼면 그 반은 빠져요</a:t>
            </a:r>
            <a:endParaRPr lang="en-US" sz="1700" dirty="0"/>
          </a:p>
        </p:txBody>
      </p:sp>
      <p:sp>
        <p:nvSpPr>
          <p:cNvPr id="13" name="num3"/>
          <p:cNvSpPr/>
          <p:nvPr/>
        </p:nvSpPr>
        <p:spPr>
          <a:xfrm>
            <a:off x="4343400" y="3950208"/>
            <a:ext cx="384048" cy="384048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4340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3895344"/>
            <a:ext cx="32004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550"/>
                </a:solidFill>
              </a:rPr>
              <a:t>점선 글자를 눌러 고쳐요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680"/>
                </a:solidFill>
              </a:rPr>
              <a:t>제목·수업시간·필독서·소주제·숙제를 바로 고칠 수 있어요</a:t>
            </a:r>
            <a:endParaRPr lang="en-US" sz="1700" dirty="0"/>
          </a:p>
        </p:txBody>
      </p:sp>
      <p:sp>
        <p:nvSpPr>
          <p:cNvPr id="16" name="card"/>
          <p:cNvSpPr/>
          <p:nvPr/>
        </p:nvSpPr>
        <p:spPr>
          <a:xfrm>
            <a:off x="8366760" y="1280160"/>
            <a:ext cx="3246120" cy="4892040"/>
          </a:xfrm>
          <a:prstGeom prst="roundRect">
            <a:avLst>
              <a:gd name="adj" fmla="val 3944"/>
            </a:avLst>
          </a:prstGeom>
          <a:solidFill>
            <a:srgbClr val="FFF4D6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95360" y="1508760"/>
            <a:ext cx="2834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3550"/>
                </a:solidFill>
              </a:rPr>
              <a:t>숙제가 없는 과정은?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3550"/>
                </a:solidFill>
              </a:rPr>
              <a:t>숙제를 적지 않은 과정(몰입독서, 어휘, 새싹 등)은 안내문을 만들지 않아요.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저장하고 출력해서 교재에 붙여요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24128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BD0"/>
                </a:solidFill>
              </a:rPr>
              <a:t>4단계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3986784" cy="3125645"/>
          </a:xfrm>
          <a:prstGeom prst="roundRect">
            <a:avLst>
              <a:gd name="adj" fmla="val 3511"/>
            </a:avLst>
          </a:prstGeom>
          <a:solidFill>
            <a:srgbClr val="FFFFFF"/>
          </a:solidFill>
          <a:ln w="12700">
            <a:solidFill>
              <a:srgbClr val="C9D0DC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A">
                <a:alpha val="18000"/>
              </a:srgbClr>
            </a:outerShdw>
          </a:effectLst>
        </p:spPr>
      </p:sp>
      <p:pic>
        <p:nvPicPr>
          <p:cNvPr id="6" name="Image 0" descr="페이지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3840480" cy="2979341"/>
          </a:xfrm>
          <a:prstGeom prst="rect">
            <a:avLst/>
          </a:prstGeom>
        </p:spPr>
      </p:pic>
      <p:sp>
        <p:nvSpPr>
          <p:cNvPr id="7" name="num1"/>
          <p:cNvSpPr/>
          <p:nvPr/>
        </p:nvSpPr>
        <p:spPr>
          <a:xfrm>
            <a:off x="640080" y="4178808"/>
            <a:ext cx="384048" cy="384048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412394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B3550"/>
                </a:solidFill>
              </a:rPr>
              <a:t>PDF로 저장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680"/>
                </a:solidFill>
              </a:rPr>
              <a:t>반마다 필요한 장 수만 들어 있어요. 한 부만 인쇄해요</a:t>
            </a:r>
            <a:endParaRPr lang="en-US" sz="1400" dirty="0"/>
          </a:p>
        </p:txBody>
      </p:sp>
      <p:sp>
        <p:nvSpPr>
          <p:cNvPr id="10" name="num2"/>
          <p:cNvSpPr/>
          <p:nvPr/>
        </p:nvSpPr>
        <p:spPr>
          <a:xfrm>
            <a:off x="640080" y="4727448"/>
            <a:ext cx="384048" cy="384048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467258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B3550"/>
                </a:solidFill>
              </a:rPr>
              <a:t>사진으로 저장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680"/>
                </a:solidFill>
              </a:rPr>
              <a:t>반마다 A4 한 장짜리 사진이 나와요</a:t>
            </a:r>
            <a:endParaRPr lang="en-US" sz="1400" dirty="0"/>
          </a:p>
        </p:txBody>
      </p:sp>
      <p:sp>
        <p:nvSpPr>
          <p:cNvPr id="13" name="num3"/>
          <p:cNvSpPr/>
          <p:nvPr/>
        </p:nvSpPr>
        <p:spPr>
          <a:xfrm>
            <a:off x="640080" y="5276088"/>
            <a:ext cx="384048" cy="384048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522122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B3550"/>
                </a:solidFill>
              </a:rPr>
              <a:t>엑셀로 저장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680"/>
                </a:solidFill>
              </a:rPr>
              <a:t>적은 숙제를 남겨 두었다가 다음에 다시 올려요</a:t>
            </a:r>
            <a:endParaRPr lang="en-US" sz="1400" dirty="0"/>
          </a:p>
        </p:txBody>
      </p:sp>
      <p:sp>
        <p:nvSpPr>
          <p:cNvPr id="16" name="num4"/>
          <p:cNvSpPr/>
          <p:nvPr/>
        </p:nvSpPr>
        <p:spPr>
          <a:xfrm>
            <a:off x="640080" y="5824728"/>
            <a:ext cx="384048" cy="384048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5824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576986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B3550"/>
                </a:solidFill>
              </a:rPr>
              <a:t>가운데 점선을 따라 잘라 붙여요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102352" y="1307592"/>
            <a:ext cx="6528816" cy="4680393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C9D0DC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A">
                <a:alpha val="18000"/>
              </a:srgbClr>
            </a:outerShdw>
          </a:effectLst>
        </p:spPr>
      </p:sp>
      <p:pic>
        <p:nvPicPr>
          <p:cNvPr id="20" name="Image 1" descr="출력용 숙제 안내문 A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417320"/>
            <a:ext cx="6309360" cy="4460937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212080" y="60350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80"/>
                </a:solidFill>
              </a:rPr>
              <a:t>A4 가로 한 장 = 숙제 안내문 두 개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08E"/>
                </a:solidFill>
              </a:rPr>
              <a:t>3부</a:t>
            </a:r>
            <a:endParaRPr lang="en-US" sz="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학부모 피드백 만들기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DFF0"/>
                </a:solidFill>
              </a:rPr>
              <a:t>반 공통 피드백은 한 번만 쓰고, 학생마다 체크만 더해요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2528316" cy="1828800"/>
          </a:xfrm>
          <a:prstGeom prst="roundRect">
            <a:avLst>
              <a:gd name="adj" fmla="val 8000"/>
            </a:avLst>
          </a:prstGeom>
          <a:solidFill>
            <a:srgbClr val="2B3A63"/>
          </a:solidFill>
          <a:ln w="12700">
            <a:solidFill>
              <a:srgbClr val="3D4E7A"/>
            </a:solidFill>
            <a:prstDash val="solid"/>
          </a:ln>
        </p:spPr>
      </p:sp>
      <p:sp>
        <p:nvSpPr>
          <p:cNvPr id="6" name="num1"/>
          <p:cNvSpPr/>
          <p:nvPr/>
        </p:nvSpPr>
        <p:spPr>
          <a:xfrm>
            <a:off x="914400" y="36576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4A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97680"/>
            <a:ext cx="20711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반 고르기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24428" y="3383280"/>
            <a:ext cx="2528316" cy="1828800"/>
          </a:xfrm>
          <a:prstGeom prst="roundRect">
            <a:avLst>
              <a:gd name="adj" fmla="val 8000"/>
            </a:avLst>
          </a:prstGeom>
          <a:solidFill>
            <a:srgbClr val="2B3A63"/>
          </a:solidFill>
          <a:ln w="12700">
            <a:solidFill>
              <a:srgbClr val="3D4E7A"/>
            </a:solidFill>
            <a:prstDash val="solid"/>
          </a:ln>
        </p:spPr>
      </p:sp>
      <p:sp>
        <p:nvSpPr>
          <p:cNvPr id="10" name="num2"/>
          <p:cNvSpPr/>
          <p:nvPr/>
        </p:nvSpPr>
        <p:spPr>
          <a:xfrm>
            <a:off x="3698748" y="36576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98748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4A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698748" y="4297680"/>
            <a:ext cx="20711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반 공통 피드백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한 번 쓰기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08776" y="3383280"/>
            <a:ext cx="2528316" cy="1828800"/>
          </a:xfrm>
          <a:prstGeom prst="roundRect">
            <a:avLst>
              <a:gd name="adj" fmla="val 8000"/>
            </a:avLst>
          </a:prstGeom>
          <a:solidFill>
            <a:srgbClr val="2B3A63"/>
          </a:solidFill>
          <a:ln w="12700">
            <a:solidFill>
              <a:srgbClr val="3D4E7A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6483096" y="36576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83096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4A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83096" y="4297680"/>
            <a:ext cx="20711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학생마다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상·중·하 체크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93124" y="3383280"/>
            <a:ext cx="2528316" cy="1828800"/>
          </a:xfrm>
          <a:prstGeom prst="roundRect">
            <a:avLst>
              <a:gd name="adj" fmla="val 8000"/>
            </a:avLst>
          </a:prstGeom>
          <a:solidFill>
            <a:srgbClr val="2B3A63"/>
          </a:solidFill>
          <a:ln w="12700">
            <a:solidFill>
              <a:srgbClr val="3D4E7A"/>
            </a:solidFill>
            <a:prstDash val="solid"/>
          </a:ln>
        </p:spPr>
      </p:sp>
      <p:sp>
        <p:nvSpPr>
          <p:cNvPr id="18" name="num4"/>
          <p:cNvSpPr/>
          <p:nvPr/>
        </p:nvSpPr>
        <p:spPr>
          <a:xfrm>
            <a:off x="9267444" y="36576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67444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4A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267444" y="4297680"/>
            <a:ext cx="20711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완성본 복사·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이미지 저장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반을 고르고 공통 피드백을 써요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24128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BD0"/>
                </a:solidFill>
              </a:rPr>
              <a:t>1~2단계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5815584" cy="1722140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 w="12700">
            <a:solidFill>
              <a:srgbClr val="C9D0DC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A">
                <a:alpha val="18000"/>
              </a:srgbClr>
            </a:outerShdw>
          </a:effectLst>
        </p:spPr>
      </p:sp>
      <p:pic>
        <p:nvPicPr>
          <p:cNvPr id="6" name="Image 0" descr="반 고르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5669280" cy="15758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" y="3081528"/>
            <a:ext cx="5815584" cy="2113768"/>
          </a:xfrm>
          <a:prstGeom prst="roundRect">
            <a:avLst>
              <a:gd name="adj" fmla="val 5191"/>
            </a:avLst>
          </a:prstGeom>
          <a:solidFill>
            <a:srgbClr val="FFFFFF"/>
          </a:solidFill>
          <a:ln w="12700">
            <a:solidFill>
              <a:srgbClr val="C9D0DC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A">
                <a:alpha val="18000"/>
              </a:srgbClr>
            </a:outerShdw>
          </a:effectLst>
        </p:spPr>
      </p:sp>
      <p:pic>
        <p:nvPicPr>
          <p:cNvPr id="8" name="Image 1" descr="반 공통 피드백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54680"/>
            <a:ext cx="5669280" cy="1967464"/>
          </a:xfrm>
          <a:prstGeom prst="rect">
            <a:avLst/>
          </a:prstGeom>
        </p:spPr>
      </p:pic>
      <p:sp>
        <p:nvSpPr>
          <p:cNvPr id="9" name="num1"/>
          <p:cNvSpPr/>
          <p:nvPr/>
        </p:nvSpPr>
        <p:spPr>
          <a:xfrm>
            <a:off x="6766560" y="1481328"/>
            <a:ext cx="384048" cy="384048"/>
          </a:xfrm>
          <a:prstGeom prst="ellipse">
            <a:avLst/>
          </a:prstGeom>
          <a:solidFill>
            <a:srgbClr val="D9533A"/>
          </a:solidFill>
          <a:ln w="12700">
            <a:solidFill>
              <a:srgbClr val="D9533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76656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315200" y="1426464"/>
            <a:ext cx="42976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B3550"/>
                </a:solidFill>
              </a:rPr>
              <a:t>반 명단에서 반을 골라요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B6680"/>
                </a:solidFill>
              </a:rPr>
              <a:t>과정과 그 달 활동리포트가 자동으로 맞춰져요 (10월 반은 10월)</a:t>
            </a:r>
            <a:endParaRPr lang="en-US" sz="1600" dirty="0"/>
          </a:p>
        </p:txBody>
      </p:sp>
      <p:sp>
        <p:nvSpPr>
          <p:cNvPr id="12" name="num2"/>
          <p:cNvSpPr/>
          <p:nvPr/>
        </p:nvSpPr>
        <p:spPr>
          <a:xfrm>
            <a:off x="6766560" y="2624328"/>
            <a:ext cx="384048" cy="384048"/>
          </a:xfrm>
          <a:prstGeom prst="ellipse">
            <a:avLst/>
          </a:prstGeom>
          <a:solidFill>
            <a:srgbClr val="D9533A"/>
          </a:solidFill>
          <a:ln w="12700">
            <a:solidFill>
              <a:srgbClr val="D9533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76656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0" y="2569464"/>
            <a:ext cx="42976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B3550"/>
                </a:solidFill>
              </a:rPr>
              <a:t>'수업 내용으로 채우기'를 눌러요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B6680"/>
                </a:solidFill>
              </a:rPr>
              <a:t>차시별로 읽은 책과 활동이 들어가요. 필요한 부분만 남겨요</a:t>
            </a:r>
            <a:endParaRPr lang="en-US" sz="1600" dirty="0"/>
          </a:p>
        </p:txBody>
      </p:sp>
      <p:sp>
        <p:nvSpPr>
          <p:cNvPr id="15" name="num3"/>
          <p:cNvSpPr/>
          <p:nvPr/>
        </p:nvSpPr>
        <p:spPr>
          <a:xfrm>
            <a:off x="6766560" y="3767328"/>
            <a:ext cx="384048" cy="384048"/>
          </a:xfrm>
          <a:prstGeom prst="ellipse">
            <a:avLst/>
          </a:prstGeom>
          <a:solidFill>
            <a:srgbClr val="D9533A"/>
          </a:solidFill>
          <a:ln w="12700">
            <a:solidFill>
              <a:srgbClr val="D9533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766560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7315200" y="3712464"/>
            <a:ext cx="42976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B3550"/>
                </a:solidFill>
              </a:rPr>
              <a:t>반 친구 모두에게 똑같이 들어가요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B6680"/>
                </a:solidFill>
              </a:rPr>
              <a:t>{이름}이라고 쓰면 학생마다 이름으로 바뀌어요</a:t>
            </a:r>
            <a:endParaRPr lang="en-US" sz="1600" dirty="0"/>
          </a:p>
        </p:txBody>
      </p:sp>
      <p:sp>
        <p:nvSpPr>
          <p:cNvPr id="18" name="num4"/>
          <p:cNvSpPr/>
          <p:nvPr/>
        </p:nvSpPr>
        <p:spPr>
          <a:xfrm>
            <a:off x="6766560" y="4910328"/>
            <a:ext cx="384048" cy="384048"/>
          </a:xfrm>
          <a:prstGeom prst="ellipse">
            <a:avLst/>
          </a:prstGeom>
          <a:solidFill>
            <a:srgbClr val="D9533A"/>
          </a:solidFill>
          <a:ln w="12700">
            <a:solidFill>
              <a:srgbClr val="D9533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766560" y="4910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7315200" y="4855464"/>
            <a:ext cx="42976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B3550"/>
                </a:solidFill>
              </a:rPr>
              <a:t>반 명단이 없으면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B6680"/>
                </a:solidFill>
              </a:rPr>
              <a:t>'과정·월 직접 고르기'에서 과정과 월·호를 골라요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학생마다 상·중·하를 체크해요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24128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BD0"/>
                </a:solidFill>
              </a:rPr>
              <a:t>3단계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4451822" cy="4855464"/>
          </a:xfrm>
          <a:prstGeom prst="roundRect">
            <a:avLst>
              <a:gd name="adj" fmla="val 2465"/>
            </a:avLst>
          </a:prstGeom>
          <a:solidFill>
            <a:srgbClr val="FFFFFF"/>
          </a:solidFill>
          <a:ln w="12700">
            <a:solidFill>
              <a:srgbClr val="C9D0DC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A">
                <a:alpha val="18000"/>
              </a:srgbClr>
            </a:outerShdw>
          </a:effectLst>
        </p:spPr>
      </p:sp>
      <p:pic>
        <p:nvPicPr>
          <p:cNvPr id="6" name="Image 0" descr="학생별 상중하 체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4305518" cy="4709160"/>
          </a:xfrm>
          <a:prstGeom prst="rect">
            <a:avLst/>
          </a:prstGeom>
        </p:spPr>
      </p:pic>
      <p:sp>
        <p:nvSpPr>
          <p:cNvPr id="7" name="num1"/>
          <p:cNvSpPr/>
          <p:nvPr/>
        </p:nvSpPr>
        <p:spPr>
          <a:xfrm>
            <a:off x="6766560" y="1481328"/>
            <a:ext cx="384048" cy="384048"/>
          </a:xfrm>
          <a:prstGeom prst="ellipse">
            <a:avLst/>
          </a:prstGeom>
          <a:solidFill>
            <a:srgbClr val="D9533A"/>
          </a:solidFill>
          <a:ln w="12700">
            <a:solidFill>
              <a:srgbClr val="D953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6656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0" y="1426464"/>
            <a:ext cx="4297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B3550"/>
                </a:solidFill>
              </a:rPr>
              <a:t>학생 이름을 눌러요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B6680"/>
                </a:solidFill>
              </a:rPr>
              <a:t>'다음 학생 →'으로 차례로 넘어가요</a:t>
            </a:r>
            <a:endParaRPr lang="en-US" sz="1600" dirty="0"/>
          </a:p>
        </p:txBody>
      </p:sp>
      <p:sp>
        <p:nvSpPr>
          <p:cNvPr id="10" name="num2"/>
          <p:cNvSpPr/>
          <p:nvPr/>
        </p:nvSpPr>
        <p:spPr>
          <a:xfrm>
            <a:off x="6766560" y="2578608"/>
            <a:ext cx="384048" cy="384048"/>
          </a:xfrm>
          <a:prstGeom prst="ellipse">
            <a:avLst/>
          </a:prstGeom>
          <a:solidFill>
            <a:srgbClr val="D9533A"/>
          </a:solidFill>
          <a:ln w="12700">
            <a:solidFill>
              <a:srgbClr val="D953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76656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2523744"/>
            <a:ext cx="4297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B3550"/>
                </a:solidFill>
              </a:rPr>
              <a:t>항목마다 상·중·하를 눌러요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B6680"/>
                </a:solidFill>
              </a:rPr>
              <a:t>필독서 이해·협동심·어휘력·토론능력·수업 참여도·발표·글쓰기. 다시 누르면 지워져요</a:t>
            </a:r>
            <a:endParaRPr lang="en-US" sz="1600" dirty="0"/>
          </a:p>
        </p:txBody>
      </p:sp>
      <p:sp>
        <p:nvSpPr>
          <p:cNvPr id="13" name="num3"/>
          <p:cNvSpPr/>
          <p:nvPr/>
        </p:nvSpPr>
        <p:spPr>
          <a:xfrm>
            <a:off x="6766560" y="3675888"/>
            <a:ext cx="384048" cy="384048"/>
          </a:xfrm>
          <a:prstGeom prst="ellipse">
            <a:avLst/>
          </a:prstGeom>
          <a:solidFill>
            <a:srgbClr val="D9533A"/>
          </a:solidFill>
          <a:ln w="12700">
            <a:solidFill>
              <a:srgbClr val="D953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6656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0" y="3621024"/>
            <a:ext cx="4297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B3550"/>
                </a:solidFill>
              </a:rPr>
              <a:t>개인 피드백을 직접 써도 돼요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B6680"/>
                </a:solidFill>
              </a:rPr>
              <a:t>체크한 문장 뒤에 이어서 들어가요</a:t>
            </a:r>
            <a:endParaRPr lang="en-US" sz="1600" dirty="0"/>
          </a:p>
        </p:txBody>
      </p:sp>
      <p:sp>
        <p:nvSpPr>
          <p:cNvPr id="16" name="num4"/>
          <p:cNvSpPr/>
          <p:nvPr/>
        </p:nvSpPr>
        <p:spPr>
          <a:xfrm>
            <a:off x="6766560" y="4773168"/>
            <a:ext cx="384048" cy="384048"/>
          </a:xfrm>
          <a:prstGeom prst="ellipse">
            <a:avLst/>
          </a:prstGeom>
          <a:solidFill>
            <a:srgbClr val="D9533A"/>
          </a:solidFill>
          <a:ln w="12700">
            <a:solidFill>
              <a:srgbClr val="D953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6656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0" y="4718304"/>
            <a:ext cx="4297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B3550"/>
                </a:solidFill>
              </a:rPr>
              <a:t>이름이 없는 팀 반도 체크할 수 있어요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B6680"/>
                </a:solidFill>
              </a:rPr>
              <a:t>'학생 이름 없이 쓰기'로 쓰고, '지우고 다음 친구 쓰기'로 넘어가요</a:t>
            </a:r>
            <a:endParaRPr lang="en-US" sz="1600" dirty="0"/>
          </a:p>
        </p:txBody>
      </p:sp>
      <p:sp>
        <p:nvSpPr>
          <p:cNvPr id="19" name="card"/>
          <p:cNvSpPr/>
          <p:nvPr/>
        </p:nvSpPr>
        <p:spPr>
          <a:xfrm>
            <a:off x="6766560" y="5669280"/>
            <a:ext cx="4846320" cy="548640"/>
          </a:xfrm>
          <a:prstGeom prst="roundRect">
            <a:avLst>
              <a:gd name="adj" fmla="val 23333"/>
            </a:avLst>
          </a:prstGeom>
          <a:solidFill>
            <a:srgbClr val="FFF4D6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949440" y="5669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550"/>
                </a:solidFill>
              </a:rPr>
              <a:t>피드백은 저장되지 않아요. 새로고침하면 지워지니 복사하거나 이미지로 저장해요.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완성본을 확인하고 복사해요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24128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BD0"/>
                </a:solidFill>
              </a:rPr>
              <a:t>4단계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2972730" cy="4855464"/>
          </a:xfrm>
          <a:prstGeom prst="roundRect">
            <a:avLst>
              <a:gd name="adj" fmla="val 3691"/>
            </a:avLst>
          </a:prstGeom>
          <a:solidFill>
            <a:srgbClr val="FFFFFF"/>
          </a:solidFill>
          <a:ln w="12700">
            <a:solidFill>
              <a:srgbClr val="C9D0DC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A">
                <a:alpha val="18000"/>
              </a:srgbClr>
            </a:outerShdw>
          </a:effectLst>
        </p:spPr>
      </p:sp>
      <p:pic>
        <p:nvPicPr>
          <p:cNvPr id="6" name="Image 0" descr="완성본과 인사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826426" cy="4709160"/>
          </a:xfrm>
          <a:prstGeom prst="rect">
            <a:avLst/>
          </a:prstGeom>
        </p:spPr>
      </p:pic>
      <p:sp>
        <p:nvSpPr>
          <p:cNvPr id="7" name="num1"/>
          <p:cNvSpPr/>
          <p:nvPr/>
        </p:nvSpPr>
        <p:spPr>
          <a:xfrm>
            <a:off x="4206240" y="1481328"/>
            <a:ext cx="384048" cy="384048"/>
          </a:xfrm>
          <a:prstGeom prst="ellipse">
            <a:avLst/>
          </a:prstGeom>
          <a:solidFill>
            <a:srgbClr val="D9533A"/>
          </a:solidFill>
          <a:ln w="12700">
            <a:solidFill>
              <a:srgbClr val="D953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20624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1426464"/>
            <a:ext cx="6858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550"/>
                </a:solidFill>
              </a:rPr>
              <a:t>공통 + 개인 피드백 + 인사말이 자동으로 합쳐져요</a:t>
            </a:r>
            <a:endParaRPr lang="en-US" sz="1700" dirty="0"/>
          </a:p>
        </p:txBody>
      </p:sp>
      <p:sp>
        <p:nvSpPr>
          <p:cNvPr id="10" name="num2"/>
          <p:cNvSpPr/>
          <p:nvPr/>
        </p:nvSpPr>
        <p:spPr>
          <a:xfrm>
            <a:off x="4206240" y="2578608"/>
            <a:ext cx="384048" cy="384048"/>
          </a:xfrm>
          <a:prstGeom prst="ellipse">
            <a:avLst/>
          </a:prstGeom>
          <a:solidFill>
            <a:srgbClr val="D9533A"/>
          </a:solidFill>
          <a:ln w="12700">
            <a:solidFill>
              <a:srgbClr val="D953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0624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2523744"/>
            <a:ext cx="6858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550"/>
                </a:solidFill>
              </a:rPr>
              <a:t>마지막 인사말을 골라요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680"/>
                </a:solidFill>
              </a:rPr>
              <a:t>8가지 중에 고르거나 내 인사말을 추가해요 (이 기기에 남아요)</a:t>
            </a:r>
            <a:endParaRPr lang="en-US" sz="1700" dirty="0"/>
          </a:p>
        </p:txBody>
      </p:sp>
      <p:sp>
        <p:nvSpPr>
          <p:cNvPr id="13" name="num3"/>
          <p:cNvSpPr/>
          <p:nvPr/>
        </p:nvSpPr>
        <p:spPr>
          <a:xfrm>
            <a:off x="4206240" y="3675888"/>
            <a:ext cx="384048" cy="384048"/>
          </a:xfrm>
          <a:prstGeom prst="ellipse">
            <a:avLst/>
          </a:prstGeom>
          <a:solidFill>
            <a:srgbClr val="D9533A"/>
          </a:solidFill>
          <a:ln w="12700">
            <a:solidFill>
              <a:srgbClr val="D953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0624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3621024"/>
            <a:ext cx="6858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550"/>
                </a:solidFill>
              </a:rPr>
              <a:t>'다른 표현으로'를 누르면 문장이 바뀌어요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680"/>
                </a:solidFill>
              </a:rPr>
              <a:t>완성본을 눌러 직접 고쳐도 돼요. '다시 합치기'로 되돌려요</a:t>
            </a:r>
            <a:endParaRPr lang="en-US" sz="1700" dirty="0"/>
          </a:p>
        </p:txBody>
      </p:sp>
      <p:sp>
        <p:nvSpPr>
          <p:cNvPr id="16" name="num4"/>
          <p:cNvSpPr/>
          <p:nvPr/>
        </p:nvSpPr>
        <p:spPr>
          <a:xfrm>
            <a:off x="4206240" y="4773168"/>
            <a:ext cx="384048" cy="384048"/>
          </a:xfrm>
          <a:prstGeom prst="ellipse">
            <a:avLst/>
          </a:prstGeom>
          <a:solidFill>
            <a:srgbClr val="D9533A"/>
          </a:solidFill>
          <a:ln w="12700">
            <a:solidFill>
              <a:srgbClr val="D953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20624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754880" y="4718304"/>
            <a:ext cx="6858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550"/>
                </a:solidFill>
              </a:rPr>
              <a:t>'문장 복사' → 카톡에 붙여 넣어요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680"/>
                </a:solidFill>
              </a:rPr>
              <a:t>'반 전체 완성본 모아 보기'에서 학생별로, 또는 한 번에 복사해요</a:t>
            </a:r>
            <a:endParaRPr lang="en-US" sz="1700" dirty="0"/>
          </a:p>
        </p:txBody>
      </p:sp>
      <p:sp>
        <p:nvSpPr>
          <p:cNvPr id="19" name="card"/>
          <p:cNvSpPr/>
          <p:nvPr/>
        </p:nvSpPr>
        <p:spPr>
          <a:xfrm>
            <a:off x="4206240" y="5623560"/>
            <a:ext cx="7406640" cy="548640"/>
          </a:xfrm>
          <a:prstGeom prst="roundRect">
            <a:avLst>
              <a:gd name="adj" fmla="val 23333"/>
            </a:avLst>
          </a:prstGeom>
          <a:solidFill>
            <a:srgbClr val="EAF1FC"/>
          </a:solidFill>
          <a:ln w="9525">
            <a:solidFill>
              <a:srgbClr val="DDE2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89120" y="56235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A"/>
                </a:solidFill>
              </a:rPr>
              <a:t>미리 만들어 둔 문장이라 Claude 사용량이 들지 않아요.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이미지로 저장해서 보내요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241280" y="457200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241280" y="4572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BD0"/>
                </a:solidFill>
              </a:rPr>
              <a:t>4단계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2532367" cy="4855464"/>
          </a:xfrm>
          <a:prstGeom prst="roundRect">
            <a:avLst>
              <a:gd name="adj" fmla="val 4333"/>
            </a:avLst>
          </a:prstGeom>
          <a:solidFill>
            <a:srgbClr val="FFFFFF"/>
          </a:solidFill>
          <a:ln w="12700">
            <a:solidFill>
              <a:srgbClr val="C9D0DC"/>
            </a:solidFill>
            <a:prstDash val="solid"/>
          </a:ln>
          <a:effectLst>
            <a:outerShdw sx="100000" sy="100000" kx="0" ky="0" algn="bl" rotWithShape="0" blurRad="101600" dist="38100" dir="5400000">
              <a:srgbClr val="1F2A4A">
                <a:alpha val="18000"/>
              </a:srgbClr>
            </a:outerShdw>
          </a:effectLst>
        </p:spPr>
      </p:sp>
      <p:pic>
        <p:nvPicPr>
          <p:cNvPr id="6" name="Image 0" descr="피드백이 들어간 이미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386063" cy="4709160"/>
          </a:xfrm>
          <a:prstGeom prst="rect">
            <a:avLst/>
          </a:prstGeom>
        </p:spPr>
      </p:pic>
      <p:sp>
        <p:nvSpPr>
          <p:cNvPr id="7" name="num1"/>
          <p:cNvSpPr/>
          <p:nvPr/>
        </p:nvSpPr>
        <p:spPr>
          <a:xfrm>
            <a:off x="3931920" y="1481328"/>
            <a:ext cx="384048" cy="384048"/>
          </a:xfrm>
          <a:prstGeom prst="ellipse">
            <a:avLst/>
          </a:prstGeom>
          <a:solidFill>
            <a:srgbClr val="D9533A"/>
          </a:solidFill>
          <a:ln w="12700">
            <a:solidFill>
              <a:srgbClr val="D953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93192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1426464"/>
            <a:ext cx="71323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550"/>
                </a:solidFill>
              </a:rPr>
              <a:t>'이미지 저장'을 눌러요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680"/>
                </a:solidFill>
              </a:rPr>
              <a:t>이번 달 수업 소개와 학생 피드백이 한 장에 들어가요</a:t>
            </a:r>
            <a:endParaRPr lang="en-US" sz="1700" dirty="0"/>
          </a:p>
        </p:txBody>
      </p:sp>
      <p:sp>
        <p:nvSpPr>
          <p:cNvPr id="10" name="num2"/>
          <p:cNvSpPr/>
          <p:nvPr/>
        </p:nvSpPr>
        <p:spPr>
          <a:xfrm>
            <a:off x="3931920" y="2624328"/>
            <a:ext cx="384048" cy="384048"/>
          </a:xfrm>
          <a:prstGeom prst="ellipse">
            <a:avLst/>
          </a:prstGeom>
          <a:solidFill>
            <a:srgbClr val="D9533A"/>
          </a:solidFill>
          <a:ln w="12700">
            <a:solidFill>
              <a:srgbClr val="D953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93192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2569464"/>
            <a:ext cx="71323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550"/>
                </a:solidFill>
              </a:rPr>
              <a:t>휴대폰에서는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680"/>
                </a:solidFill>
              </a:rPr>
              <a:t>공유 창에서 사진에 저장해요. 안 되면 그림이 크게 뜨니 길게 눌러 저장해요</a:t>
            </a:r>
            <a:endParaRPr lang="en-US" sz="1700" dirty="0"/>
          </a:p>
        </p:txBody>
      </p:sp>
      <p:sp>
        <p:nvSpPr>
          <p:cNvPr id="13" name="num3"/>
          <p:cNvSpPr/>
          <p:nvPr/>
        </p:nvSpPr>
        <p:spPr>
          <a:xfrm>
            <a:off x="3931920" y="3767328"/>
            <a:ext cx="384048" cy="384048"/>
          </a:xfrm>
          <a:prstGeom prst="ellipse">
            <a:avLst/>
          </a:prstGeom>
          <a:solidFill>
            <a:srgbClr val="D9533A"/>
          </a:solidFill>
          <a:ln w="12700">
            <a:solidFill>
              <a:srgbClr val="D953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31920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3712464"/>
            <a:ext cx="71323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550"/>
                </a:solidFill>
              </a:rPr>
              <a:t>차시 하나만 보내려면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680"/>
                </a:solidFill>
              </a:rPr>
              <a:t>'과정·월 직접 고르기'의 보낼 범위에서 차시를 골라요</a:t>
            </a:r>
            <a:endParaRPr lang="en-US" sz="1700" dirty="0"/>
          </a:p>
        </p:txBody>
      </p:sp>
      <p:sp>
        <p:nvSpPr>
          <p:cNvPr id="16" name="num4"/>
          <p:cNvSpPr/>
          <p:nvPr/>
        </p:nvSpPr>
        <p:spPr>
          <a:xfrm>
            <a:off x="3931920" y="4910328"/>
            <a:ext cx="384048" cy="384048"/>
          </a:xfrm>
          <a:prstGeom prst="ellipse">
            <a:avLst/>
          </a:prstGeom>
          <a:solidFill>
            <a:srgbClr val="D9533A"/>
          </a:solidFill>
          <a:ln w="12700">
            <a:solidFill>
              <a:srgbClr val="D953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31920" y="4910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480560" y="4855464"/>
            <a:ext cx="71323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2B3550"/>
                </a:solidFill>
              </a:rPr>
              <a:t>피드백 없이 수업 소개만 보내도 돼요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B6680"/>
                </a:solidFill>
              </a:rPr>
              <a:t>공통·개인 피드백이 비어 있으면 맨 아래 칸이 빠져요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4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이제 바로 써 보세요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DFF0"/>
                </a:solidFill>
              </a:rPr>
              <a:t>QR 코드나 링크로 열고, 엑셀 양식부터 받아 시작하면 돼요.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265176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수업 도우미 QR 코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383280"/>
            <a:ext cx="2377440" cy="2377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989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FC3EA"/>
                </a:solidFill>
              </a:rPr>
              <a:t>한우리 수업도우미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3657600" y="338328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6DFF0"/>
                </a:solidFill>
              </a:rPr>
              <a:t>수업계획서 · 숙제 안내문 · 피드백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6DFF0"/>
                </a:solidFill>
              </a:rPr>
              <a:t>엑셀 양식은 페이지 맨 위 '양식·안내 받기'에서 받아요.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57600" y="5074920"/>
            <a:ext cx="7863840" cy="0"/>
          </a:xfrm>
          <a:prstGeom prst="line">
            <a:avLst/>
          </a:prstGeom>
          <a:noFill/>
          <a:ln w="12700">
            <a:solidFill>
              <a:srgbClr val="3D4E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0" y="5303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한우리 안산단원지부 드림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nuri Danwon">
  <a:themeElements>
    <a:clrScheme name="Hanuri Danwon">
      <a:dk1>
        <a:srgbClr val="222A3D"/>
      </a:dk1>
      <a:lt1>
        <a:srgbClr val="FFFFFF"/>
      </a:lt1>
      <a:dk2>
        <a:srgbClr val="1F2A4A"/>
      </a:dk2>
      <a:lt2>
        <a:srgbClr val="F4F6FA"/>
      </a:lt2>
      <a:accent1>
        <a:srgbClr val="1F2A4A"/>
      </a:accent1>
      <a:accent2>
        <a:srgbClr val="4A7BD0"/>
      </a:accent2>
      <a:accent3>
        <a:srgbClr val="E07A3F"/>
      </a:accent3>
      <a:accent4>
        <a:srgbClr val="6B8E5A"/>
      </a:accent4>
      <a:accent5>
        <a:srgbClr val="9AA6BF"/>
      </a:accent5>
      <a:accent6>
        <a:srgbClr val="C0392B"/>
      </a:accent6>
      <a:hlink>
        <a:srgbClr val="4A7BD0"/>
      </a:hlink>
      <a:folHlink>
        <a:srgbClr val="6B7590"/>
      </a:folHlink>
    </a:clrScheme>
    <a:fontScheme name="Hanuri Danwon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한우리 수업도우미 사용 안내</dc:title>
  <dc:subject>PptxGenJS Presentation</dc:subject>
  <dc:creator>한우리 수업도우미</dc:creator>
  <cp:lastModifiedBy>한우리 수업도우미</cp:lastModifiedBy>
  <cp:revision>1</cp:revision>
  <dcterms:created xsi:type="dcterms:W3CDTF">2026-10-24T02:17:58Z</dcterms:created>
  <dcterms:modified xsi:type="dcterms:W3CDTF">2026-10-24T02:17:58Z</dcterms:modified>
</cp:coreProperties>
</file>