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1F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1828800"/>
            <a:ext cx="6309360" cy="2011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rgbClr val="1F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1417320"/>
            <a:ext cx="1088136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969264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4AA"/>
                </a:solidFill>
              </a:rPr>
              <a:t>한우리 수업도우미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4A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4A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18872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AFC3EA"/>
                </a:solidFill>
              </a:rPr>
              <a:t>한우리 선생님들께</a:t>
            </a:r>
            <a:endParaRPr lang="en-US" sz="18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40080" y="1828800"/>
            <a:ext cx="63093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한우리 수업도우미</a:t>
            </a:r>
            <a:endParaRPr lang="en-US" sz="3400" dirty="0"/>
          </a:p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이렇게 써요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977640"/>
            <a:ext cx="5852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D6DFF0"/>
                </a:solidFill>
              </a:rPr>
              <a:t>반 명단 엑셀 하나로 수업계획서, 숙제 안내문,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D6DFF0"/>
                </a:solidFill>
              </a:rPr>
              <a:t>학생 피드백까지 한 페이지에서 만들어요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178040" y="685800"/>
            <a:ext cx="2423160" cy="5486400"/>
          </a:xfrm>
          <a:prstGeom prst="roundRect">
            <a:avLst>
              <a:gd name="adj" fmla="val 452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6" name="Image 0" descr="수업계획서 예시">    </p:cNvPr>
          <p:cNvPicPr>
            <a:picLocks noChangeAspect="1"/>
          </p:cNvPicPr>
          <p:nvPr/>
        </p:nvPicPr>
        <p:blipFill>
          <a:blip r:embed="rId1"/>
          <a:srcRect l="0" r="0" t="0" b="-4698"/>
          <a:stretch/>
        </p:blipFill>
        <p:spPr>
          <a:xfrm>
            <a:off x="7269480" y="777240"/>
            <a:ext cx="2240280" cy="530352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9281160" y="2834640"/>
            <a:ext cx="251460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C9D0DC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35000"/>
              </a:srgbClr>
            </a:outerShdw>
          </a:effectLst>
        </p:spPr>
      </p:sp>
      <p:pic>
        <p:nvPicPr>
          <p:cNvPr id="8" name="Image 1" descr="숙제 안내문 예시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6880" y="2880360"/>
            <a:ext cx="2423160" cy="1713258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7178040" y="6263640"/>
            <a:ext cx="2423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FC3EA"/>
                </a:solidFill>
              </a:rPr>
              <a:t>수업계획서</a:t>
            </a:r>
            <a:endParaRPr lang="en-US" sz="1300" dirty="0"/>
          </a:p>
        </p:txBody>
      </p:sp>
      <p:sp>
        <p:nvSpPr>
          <p:cNvPr id="10" name="Text 6"/>
          <p:cNvSpPr txBox="1"/>
          <p:nvPr/>
        </p:nvSpPr>
        <p:spPr>
          <a:xfrm>
            <a:off x="9281160" y="4754880"/>
            <a:ext cx="2514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FC3EA"/>
                </a:solidFill>
              </a:rPr>
              <a:t>숙제 안내문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9692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한 페이지에 탭이 세 개 있어요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58368" y="1298448"/>
            <a:ext cx="2446126" cy="4855464"/>
          </a:xfrm>
          <a:prstGeom prst="roundRect">
            <a:avLst>
              <a:gd name="adj" fmla="val 4486"/>
            </a:avLst>
          </a:prstGeom>
          <a:solidFill>
            <a:srgbClr val="FFFFFF"/>
          </a:solidFill>
          <a:ln w="12700">
            <a:solidFill>
              <a:srgbClr val="C9D0DC"/>
            </a:solidFill>
            <a:prstDash val="solid"/>
          </a:ln>
          <a:effectLst>
            <a:outerShdw sx="100000" sy="100000" kx="0" ky="0" algn="bl" rotWithShape="0" blurRad="101600" dist="38100" dir="5400000">
              <a:srgbClr val="1F2A4A">
                <a:alpha val="18000"/>
              </a:srgbClr>
            </a:outerShdw>
          </a:effectLst>
        </p:spPr>
      </p:sp>
      <p:pic>
        <p:nvPicPr>
          <p:cNvPr id="4" name="Image 0" descr="수업 도우미 첫 화면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371600"/>
            <a:ext cx="2299822" cy="47091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3657600" y="1371600"/>
            <a:ext cx="3931920" cy="82296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9525">
            <a:solidFill>
              <a:srgbClr val="DDE2E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3840480" y="1645920"/>
            <a:ext cx="274320" cy="274320"/>
          </a:xfrm>
          <a:prstGeom prst="ellipse">
            <a:avLst/>
          </a:prstGeom>
          <a:solidFill>
            <a:srgbClr val="1F2A4A"/>
          </a:solidFill>
          <a:ln w="12700">
            <a:solidFill>
              <a:srgbClr val="1F2A4A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4251960" y="1444752"/>
            <a:ext cx="32461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B3550"/>
                </a:solidFill>
              </a:rPr>
              <a:t>수업계획서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rgbClr val="5B6680"/>
                </a:solidFill>
              </a:rPr>
              <a:t>학부모님께 보낼 달력형 수업계획서 이미지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3657600" y="2331720"/>
            <a:ext cx="3931920" cy="82296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9525">
            <a:solidFill>
              <a:srgbClr val="DDE2EA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3840480" y="2606040"/>
            <a:ext cx="274320" cy="274320"/>
          </a:xfrm>
          <a:prstGeom prst="ellipse">
            <a:avLst/>
          </a:prstGeom>
          <a:solidFill>
            <a:srgbClr val="E07A3F"/>
          </a:solidFill>
          <a:ln w="12700">
            <a:solidFill>
              <a:srgbClr val="E07A3F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251960" y="2404872"/>
            <a:ext cx="32461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B3550"/>
                </a:solidFill>
              </a:rPr>
              <a:t>숙제 안내문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rgbClr val="5B6680"/>
                </a:solidFill>
              </a:rPr>
              <a:t>교재에 붙일 숙제 안내문 (A4에 두 개)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3657600" y="3291840"/>
            <a:ext cx="3931920" cy="82296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9525">
            <a:solidFill>
              <a:srgbClr val="DDE2E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3840480" y="3566160"/>
            <a:ext cx="274320" cy="274320"/>
          </a:xfrm>
          <a:prstGeom prst="ellipse">
            <a:avLst/>
          </a:prstGeom>
          <a:solidFill>
            <a:srgbClr val="D9533A"/>
          </a:solidFill>
          <a:ln w="12700">
            <a:solidFill>
              <a:srgbClr val="D9533A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4251960" y="3364992"/>
            <a:ext cx="32461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B3550"/>
                </a:solidFill>
              </a:rPr>
              <a:t>피드백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rgbClr val="5B6680"/>
                </a:solidFill>
              </a:rPr>
              <a:t>이번 달 수업 소개 + 학생별 피드백 이미지</a:t>
            </a:r>
            <a:endParaRPr lang="en-US" sz="1600" dirty="0"/>
          </a:p>
        </p:txBody>
      </p:sp>
      <p:sp>
        <p:nvSpPr>
          <p:cNvPr id="14" name="card"/>
          <p:cNvSpPr/>
          <p:nvPr/>
        </p:nvSpPr>
        <p:spPr>
          <a:xfrm>
            <a:off x="3657600" y="4343400"/>
            <a:ext cx="3931920" cy="1737360"/>
          </a:xfrm>
          <a:prstGeom prst="roundRect">
            <a:avLst>
              <a:gd name="adj" fmla="val 7368"/>
            </a:avLst>
          </a:prstGeom>
          <a:solidFill>
            <a:srgbClr val="FFF4D6"/>
          </a:solidFill>
          <a:ln w="9525">
            <a:solidFill>
              <a:srgbClr val="DDE2EA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3886200" y="4480560"/>
            <a:ext cx="35204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B3550"/>
                </a:solidFill>
              </a:rPr>
              <a:t>반 명단 엑셀은 한 번만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B3550"/>
                </a:solidFill>
              </a:rPr>
              <a:t>어느 탭에서 올려도 다른 두 탭에 같이 들어가요.</a:t>
            </a:r>
            <a:endParaRPr lang="en-US" sz="1400" dirty="0"/>
          </a:p>
        </p:txBody>
      </p:sp>
      <p:sp>
        <p:nvSpPr>
          <p:cNvPr id="16" name="card"/>
          <p:cNvSpPr/>
          <p:nvPr/>
        </p:nvSpPr>
        <p:spPr>
          <a:xfrm>
            <a:off x="7863840" y="1371600"/>
            <a:ext cx="3749040" cy="4709160"/>
          </a:xfrm>
          <a:prstGeom prst="roundRect">
            <a:avLst>
              <a:gd name="adj" fmla="val 3415"/>
            </a:avLst>
          </a:prstGeom>
          <a:solidFill>
            <a:srgbClr val="FFFFFF"/>
          </a:solidFill>
          <a:ln w="9525">
            <a:solidFill>
              <a:srgbClr val="DDE2EA"/>
            </a:solidFill>
            <a:prstDash val="solid"/>
          </a:ln>
        </p:spPr>
      </p:sp>
      <p:pic>
        <p:nvPicPr>
          <p:cNvPr id="17" name="Image 1" descr="수업 도우미 QR 코드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58200" y="1645920"/>
            <a:ext cx="2560320" cy="2560320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7955280" y="434340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F2A4A"/>
                </a:solidFill>
              </a:rPr>
              <a:t>수업도우미 열기</a:t>
            </a:r>
            <a:endParaRPr lang="en-US" sz="1800" dirty="0"/>
          </a:p>
        </p:txBody>
      </p:sp>
      <p:sp>
        <p:nvSpPr>
          <p:cNvPr id="19" name="Text 15"/>
          <p:cNvSpPr txBox="1"/>
          <p:nvPr/>
        </p:nvSpPr>
        <p:spPr>
          <a:xfrm>
            <a:off x="7955280" y="4800600"/>
            <a:ext cx="3566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680"/>
                </a:solidFill>
              </a:rPr>
              <a:t>휴대폰 카메라로 비추거나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5B6680"/>
                </a:solidFill>
              </a:rPr>
              <a:t>단톡방에 올라온 링크로 열어요.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5B6680"/>
                </a:solidFill>
              </a:rPr>
              <a:t>로그인하지 않아도 돼요.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4A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9692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시작하기 전에, 엑셀 양식을 받아요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58368" y="1389888"/>
            <a:ext cx="5266944" cy="5023104"/>
          </a:xfrm>
          <a:prstGeom prst="roundRect">
            <a:avLst>
              <a:gd name="adj" fmla="val 2184"/>
            </a:avLst>
          </a:prstGeom>
          <a:solidFill>
            <a:srgbClr val="FFFFFF"/>
          </a:solidFill>
          <a:ln w="12700">
            <a:solidFill>
              <a:srgbClr val="C9D0DC"/>
            </a:solidFill>
            <a:prstDash val="solid"/>
          </a:ln>
          <a:effectLst>
            <a:outerShdw sx="100000" sy="100000" kx="0" ky="0" algn="bl" rotWithShape="0" blurRad="101600" dist="38100" dir="5400000">
              <a:srgbClr val="1F2A4A">
                <a:alpha val="18000"/>
              </a:srgbClr>
            </a:outerShdw>
          </a:effectLst>
        </p:spPr>
      </p:sp>
      <p:pic>
        <p:nvPicPr>
          <p:cNvPr id="4" name="Image 0" descr="엑셀 양식 받기 메뉴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463040"/>
            <a:ext cx="5120640" cy="4876800"/>
          </a:xfrm>
          <a:prstGeom prst="rect">
            <a:avLst/>
          </a:prstGeom>
        </p:spPr>
      </p:pic>
      <p:sp>
        <p:nvSpPr>
          <p:cNvPr id="5" name="num1"/>
          <p:cNvSpPr/>
          <p:nvPr/>
        </p:nvSpPr>
        <p:spPr>
          <a:xfrm>
            <a:off x="6400800" y="1572768"/>
            <a:ext cx="384048" cy="384048"/>
          </a:xfrm>
          <a:prstGeom prst="ellipse">
            <a:avLst/>
          </a:prstGeom>
          <a:solidFill>
            <a:srgbClr val="1F2A4A"/>
          </a:solidFill>
          <a:ln w="12700">
            <a:solidFill>
              <a:srgbClr val="1F2A4A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400800" y="15727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6949440" y="1517904"/>
            <a:ext cx="466344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b="1" dirty="0">
                <a:solidFill>
                  <a:srgbClr val="2B3550"/>
                </a:solidFill>
              </a:rPr>
              <a:t>맨 위 '양식·안내 받기'를 눌러요</a:t>
            </a:r>
            <a:endParaRPr lang="en-US" sz="1700" dirty="0"/>
          </a:p>
        </p:txBody>
      </p:sp>
      <p:sp>
        <p:nvSpPr>
          <p:cNvPr id="8" name="num2"/>
          <p:cNvSpPr/>
          <p:nvPr/>
        </p:nvSpPr>
        <p:spPr>
          <a:xfrm>
            <a:off x="6400800" y="2761488"/>
            <a:ext cx="384048" cy="384048"/>
          </a:xfrm>
          <a:prstGeom prst="ellipse">
            <a:avLst/>
          </a:prstGeom>
          <a:solidFill>
            <a:srgbClr val="1F2A4A"/>
          </a:solidFill>
          <a:ln w="12700">
            <a:solidFill>
              <a:srgbClr val="1F2A4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400800" y="27614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2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6949440" y="2706624"/>
            <a:ext cx="466344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b="1" dirty="0">
                <a:solidFill>
                  <a:srgbClr val="2B3550"/>
                </a:solidFill>
              </a:rPr>
              <a:t>필요한 양식을 눌러 내려받아요</a:t>
            </a:r>
            <a:endParaRPr lang="en-US" sz="17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5B6680"/>
                </a:solidFill>
              </a:rPr>
              <a:t>반 명단 엑셀은 이름으로 적는 것과 팀 이름으로 적는 것 두 가지예요</a:t>
            </a:r>
            <a:endParaRPr lang="en-US" sz="1700" dirty="0"/>
          </a:p>
        </p:txBody>
      </p:sp>
      <p:sp>
        <p:nvSpPr>
          <p:cNvPr id="11" name="num3"/>
          <p:cNvSpPr/>
          <p:nvPr/>
        </p:nvSpPr>
        <p:spPr>
          <a:xfrm>
            <a:off x="6400800" y="3950208"/>
            <a:ext cx="384048" cy="384048"/>
          </a:xfrm>
          <a:prstGeom prst="ellipse">
            <a:avLst/>
          </a:prstGeom>
          <a:solidFill>
            <a:srgbClr val="1F2A4A"/>
          </a:solidFill>
          <a:ln w="12700">
            <a:solidFill>
              <a:srgbClr val="1F2A4A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40080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3</a:t>
            </a:r>
            <a:endParaRPr lang="en-US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6949440" y="3895344"/>
            <a:ext cx="466344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b="1" dirty="0">
                <a:solidFill>
                  <a:srgbClr val="2B3550"/>
                </a:solidFill>
              </a:rPr>
              <a:t>양식에 우리 반을 적어요</a:t>
            </a:r>
            <a:endParaRPr lang="en-US" sz="17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5B6680"/>
                </a:solidFill>
              </a:rPr>
              <a:t>첫 줄 제목은 그대로 두고 아래 줄만 바꿔요</a:t>
            </a:r>
            <a:endParaRPr lang="en-US" sz="1700" dirty="0"/>
          </a:p>
        </p:txBody>
      </p:sp>
      <p:sp>
        <p:nvSpPr>
          <p:cNvPr id="14" name="card"/>
          <p:cNvSpPr/>
          <p:nvPr/>
        </p:nvSpPr>
        <p:spPr>
          <a:xfrm>
            <a:off x="6400800" y="5166360"/>
            <a:ext cx="5212080" cy="914400"/>
          </a:xfrm>
          <a:prstGeom prst="roundRect">
            <a:avLst>
              <a:gd name="adj" fmla="val 14000"/>
            </a:avLst>
          </a:prstGeom>
          <a:solidFill>
            <a:srgbClr val="EAF1FC"/>
          </a:solidFill>
          <a:ln w="9525">
            <a:solidFill>
              <a:srgbClr val="DDE2EA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583680" y="5166360"/>
            <a:ext cx="4846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A4A"/>
                </a:solidFill>
              </a:rPr>
              <a:t>컴퓨터에서 받으면 편해요. 휴대폰에서는 받은 파일을 엑셀 앱으로 열어 고쳐요.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4A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86868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AFC3EA"/>
                </a:solidFill>
              </a:rPr>
              <a:t>1부</a:t>
            </a:r>
            <a:endParaRPr lang="en-US" sz="2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40080" y="14173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월간 수업계획서 만들기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3774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6DFF0"/>
                </a:solidFill>
              </a:rPr>
              <a:t>다섯 단계면 끝나요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40080" y="3383280"/>
            <a:ext cx="1971446" cy="1828800"/>
          </a:xfrm>
          <a:prstGeom prst="roundRect">
            <a:avLst>
              <a:gd name="adj" fmla="val 8000"/>
            </a:avLst>
          </a:prstGeom>
          <a:solidFill>
            <a:srgbClr val="2B3A63"/>
          </a:solidFill>
          <a:ln w="12700">
            <a:solidFill>
              <a:srgbClr val="3D4E7A"/>
            </a:solidFill>
            <a:prstDash val="solid"/>
          </a:ln>
        </p:spPr>
      </p:sp>
      <p:sp>
        <p:nvSpPr>
          <p:cNvPr id="6" name="num1"/>
          <p:cNvSpPr/>
          <p:nvPr/>
        </p:nvSpPr>
        <p:spPr>
          <a:xfrm>
            <a:off x="914400" y="3657600"/>
            <a:ext cx="502920" cy="5029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14400" y="36576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2A4A"/>
                </a:solidFill>
              </a:rPr>
              <a:t>1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4297680"/>
            <a:ext cx="151424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반 명단 엑셀</a:t>
            </a:r>
            <a:endParaRPr lang="en-US" sz="1700" dirty="0"/>
          </a:p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작성하기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2867558" y="3383280"/>
            <a:ext cx="1971446" cy="1828800"/>
          </a:xfrm>
          <a:prstGeom prst="roundRect">
            <a:avLst>
              <a:gd name="adj" fmla="val 8000"/>
            </a:avLst>
          </a:prstGeom>
          <a:solidFill>
            <a:srgbClr val="2B3A63"/>
          </a:solidFill>
          <a:ln w="12700">
            <a:solidFill>
              <a:srgbClr val="3D4E7A"/>
            </a:solidFill>
            <a:prstDash val="solid"/>
          </a:ln>
        </p:spPr>
      </p:sp>
      <p:sp>
        <p:nvSpPr>
          <p:cNvPr id="10" name="num2"/>
          <p:cNvSpPr/>
          <p:nvPr/>
        </p:nvSpPr>
        <p:spPr>
          <a:xfrm>
            <a:off x="3141878" y="3657600"/>
            <a:ext cx="502920" cy="5029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141878" y="36576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2A4A"/>
                </a:solidFill>
              </a:rPr>
              <a:t>2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3141878" y="4297680"/>
            <a:ext cx="151424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수업계획서 탭에서</a:t>
            </a:r>
            <a:endParaRPr lang="en-US" sz="1700" dirty="0"/>
          </a:p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엑셀 올리기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5095037" y="3383280"/>
            <a:ext cx="1971446" cy="1828800"/>
          </a:xfrm>
          <a:prstGeom prst="roundRect">
            <a:avLst>
              <a:gd name="adj" fmla="val 8000"/>
            </a:avLst>
          </a:prstGeom>
          <a:solidFill>
            <a:srgbClr val="2B3A63"/>
          </a:solidFill>
          <a:ln w="12700">
            <a:solidFill>
              <a:srgbClr val="3D4E7A"/>
            </a:solidFill>
            <a:prstDash val="solid"/>
          </a:ln>
        </p:spPr>
      </p:sp>
      <p:sp>
        <p:nvSpPr>
          <p:cNvPr id="14" name="num3"/>
          <p:cNvSpPr/>
          <p:nvPr/>
        </p:nvSpPr>
        <p:spPr>
          <a:xfrm>
            <a:off x="5369357" y="3657600"/>
            <a:ext cx="502920" cy="5029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369357" y="36576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2A4A"/>
                </a:solidFill>
              </a:rPr>
              <a:t>3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5369357" y="4297680"/>
            <a:ext cx="151424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확인하고</a:t>
            </a:r>
            <a:endParaRPr lang="en-US" sz="1700" dirty="0"/>
          </a:p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글자 고치기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7322515" y="3383280"/>
            <a:ext cx="1971446" cy="1828800"/>
          </a:xfrm>
          <a:prstGeom prst="roundRect">
            <a:avLst>
              <a:gd name="adj" fmla="val 8000"/>
            </a:avLst>
          </a:prstGeom>
          <a:solidFill>
            <a:srgbClr val="2B3A63"/>
          </a:solidFill>
          <a:ln w="12700">
            <a:solidFill>
              <a:srgbClr val="3D4E7A"/>
            </a:solidFill>
            <a:prstDash val="solid"/>
          </a:ln>
        </p:spPr>
      </p:sp>
      <p:sp>
        <p:nvSpPr>
          <p:cNvPr id="18" name="num4"/>
          <p:cNvSpPr/>
          <p:nvPr/>
        </p:nvSpPr>
        <p:spPr>
          <a:xfrm>
            <a:off x="7596835" y="3657600"/>
            <a:ext cx="502920" cy="5029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596835" y="36576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2A4A"/>
                </a:solidFill>
              </a:rPr>
              <a:t>4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7596835" y="4297680"/>
            <a:ext cx="151424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이미지로</a:t>
            </a:r>
            <a:endParaRPr lang="en-US" sz="1700" dirty="0"/>
          </a:p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만들고 저장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9549994" y="3383280"/>
            <a:ext cx="1971446" cy="1828800"/>
          </a:xfrm>
          <a:prstGeom prst="roundRect">
            <a:avLst>
              <a:gd name="adj" fmla="val 8000"/>
            </a:avLst>
          </a:prstGeom>
          <a:solidFill>
            <a:srgbClr val="2B3A63"/>
          </a:solidFill>
          <a:ln w="12700">
            <a:solidFill>
              <a:srgbClr val="3D4E7A"/>
            </a:solidFill>
            <a:prstDash val="solid"/>
          </a:ln>
        </p:spPr>
      </p:sp>
      <p:sp>
        <p:nvSpPr>
          <p:cNvPr id="22" name="num5"/>
          <p:cNvSpPr/>
          <p:nvPr/>
        </p:nvSpPr>
        <p:spPr>
          <a:xfrm>
            <a:off x="9824314" y="3657600"/>
            <a:ext cx="502920" cy="5029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9824314" y="36576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2A4A"/>
                </a:solidFill>
              </a:rPr>
              <a:t>5</a:t>
            </a:r>
            <a:endParaRPr lang="en-US" sz="2000" dirty="0"/>
          </a:p>
        </p:txBody>
      </p:sp>
      <p:sp>
        <p:nvSpPr>
          <p:cNvPr id="24" name="Text 22"/>
          <p:cNvSpPr txBox="1"/>
          <p:nvPr/>
        </p:nvSpPr>
        <p:spPr>
          <a:xfrm>
            <a:off x="9824314" y="4297680"/>
            <a:ext cx="151424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학부모님께</a:t>
            </a:r>
            <a:endParaRPr lang="en-US" sz="1700" dirty="0"/>
          </a:p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보내기</a:t>
            </a:r>
            <a:endParaRPr lang="en-US" sz="1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9692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엑셀은 이렇게 적어요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10241280" y="457200"/>
            <a:ext cx="1417320" cy="438912"/>
          </a:xfrm>
          <a:prstGeom prst="roundRect">
            <a:avLst>
              <a:gd name="adj" fmla="val 50000"/>
            </a:avLst>
          </a:prstGeom>
          <a:solidFill>
            <a:srgbClr val="EAF1FC"/>
          </a:solidFill>
          <a:ln w="12700">
            <a:solidFill>
              <a:srgbClr val="EAF1F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0241280" y="457200"/>
            <a:ext cx="1417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A7BD0"/>
                </a:solidFill>
              </a:rPr>
              <a:t>1단계</a:t>
            </a:r>
            <a:endParaRPr lang="en-US" sz="1400" dirty="0"/>
          </a:p>
        </p:txBody>
      </p:sp>
      <p:sp>
        <p:nvSpPr>
          <p:cNvPr id="5" name="card"/>
          <p:cNvSpPr/>
          <p:nvPr/>
        </p:nvSpPr>
        <p:spPr>
          <a:xfrm>
            <a:off x="548640" y="1280160"/>
            <a:ext cx="11064240" cy="3108960"/>
          </a:xfrm>
          <a:prstGeom prst="roundRect">
            <a:avLst>
              <a:gd name="adj" fmla="val 4118"/>
            </a:avLst>
          </a:prstGeom>
          <a:solidFill>
            <a:srgbClr val="FFFFFF"/>
          </a:solidFill>
          <a:ln w="9525">
            <a:solidFill>
              <a:srgbClr val="DDE2EA"/>
            </a:solidFill>
            <a:prstDash val="solid"/>
          </a:ln>
        </p:spPr>
      </p:sp>
      <p:pic>
        <p:nvPicPr>
          <p:cNvPr id="6" name="Image 0" descr="반 명단 엑셀 예시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80160" y="1389888"/>
            <a:ext cx="9601200" cy="2905741"/>
          </a:xfrm>
          <a:prstGeom prst="rect">
            <a:avLst/>
          </a:prstGeom>
        </p:spPr>
      </p:pic>
      <p:sp>
        <p:nvSpPr>
          <p:cNvPr id="7" name="card"/>
          <p:cNvSpPr/>
          <p:nvPr/>
        </p:nvSpPr>
        <p:spPr>
          <a:xfrm>
            <a:off x="548640" y="4892040"/>
            <a:ext cx="3520440" cy="1325880"/>
          </a:xfrm>
          <a:prstGeom prst="roundRect">
            <a:avLst>
              <a:gd name="adj" fmla="val 9655"/>
            </a:avLst>
          </a:prstGeom>
          <a:solidFill>
            <a:srgbClr val="FFFFFF"/>
          </a:solidFill>
          <a:ln w="9525">
            <a:solidFill>
              <a:srgbClr val="DDE2E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77240" y="502920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A7BD0"/>
                </a:solidFill>
              </a:rPr>
              <a:t>같은 반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539496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B3550"/>
                </a:solidFill>
              </a:rPr>
              <a:t>이름만 한 줄씩 적고 No·팀 여부·수업요일·단계·수업일 칸은 합쳐(병합) 주세요</a:t>
            </a:r>
            <a:endParaRPr lang="en-US" sz="1300" dirty="0"/>
          </a:p>
        </p:txBody>
      </p:sp>
      <p:sp>
        <p:nvSpPr>
          <p:cNvPr id="10" name="card"/>
          <p:cNvSpPr/>
          <p:nvPr/>
        </p:nvSpPr>
        <p:spPr>
          <a:xfrm>
            <a:off x="4325112" y="4892040"/>
            <a:ext cx="3520440" cy="1325880"/>
          </a:xfrm>
          <a:prstGeom prst="roundRect">
            <a:avLst>
              <a:gd name="adj" fmla="val 9655"/>
            </a:avLst>
          </a:prstGeom>
          <a:solidFill>
            <a:srgbClr val="FFFFFF"/>
          </a:solidFill>
          <a:ln w="9525">
            <a:solidFill>
              <a:srgbClr val="DDE2EA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553712" y="502920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A7BD0"/>
                </a:solidFill>
              </a:rPr>
              <a:t>수업일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4553712" y="539496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B3550"/>
                </a:solidFill>
              </a:rPr>
              <a:t>'11월 2일, 9일, 16일'처럼 적어요. 달이 바뀌면 '11월 30일, 12월 2일'</a:t>
            </a:r>
            <a:endParaRPr lang="en-US" sz="1300" dirty="0"/>
          </a:p>
        </p:txBody>
      </p:sp>
      <p:sp>
        <p:nvSpPr>
          <p:cNvPr id="13" name="card"/>
          <p:cNvSpPr/>
          <p:nvPr/>
        </p:nvSpPr>
        <p:spPr>
          <a:xfrm>
            <a:off x="8101584" y="4892040"/>
            <a:ext cx="3520440" cy="1325880"/>
          </a:xfrm>
          <a:prstGeom prst="roundRect">
            <a:avLst>
              <a:gd name="adj" fmla="val 9655"/>
            </a:avLst>
          </a:prstGeom>
          <a:solidFill>
            <a:srgbClr val="FFFFFF"/>
          </a:solidFill>
          <a:ln w="9525">
            <a:solidFill>
              <a:srgbClr val="DDE2EA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8330184" y="502920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A7BD0"/>
                </a:solidFill>
              </a:rPr>
              <a:t>수업요일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8330184" y="539496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B3550"/>
                </a:solidFill>
              </a:rPr>
              <a:t>요일과 시간을 적어요. 이틀 수업이면 같은 칸에서 Alt+Enter로 줄을 바꿔요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548640" y="448056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680"/>
                </a:solidFill>
              </a:rPr>
              <a:t>첫 줄 제목(No, 팀 여부, 이름, 수업요일, 단계, 수업일, 특이사항)은 그대로 두세요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4A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9692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단계 칸과 특이사항 칸이 중요해요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10241280" y="457200"/>
            <a:ext cx="1417320" cy="438912"/>
          </a:xfrm>
          <a:prstGeom prst="roundRect">
            <a:avLst>
              <a:gd name="adj" fmla="val 50000"/>
            </a:avLst>
          </a:prstGeom>
          <a:solidFill>
            <a:srgbClr val="EAF1FC"/>
          </a:solidFill>
          <a:ln w="12700">
            <a:solidFill>
              <a:srgbClr val="EAF1F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0241280" y="457200"/>
            <a:ext cx="1417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A7BD0"/>
                </a:solidFill>
              </a:rPr>
              <a:t>1단계</a:t>
            </a:r>
            <a:endParaRPr lang="en-US" sz="1400" dirty="0"/>
          </a:p>
        </p:txBody>
      </p:sp>
      <p:sp>
        <p:nvSpPr>
          <p:cNvPr id="5" name="card"/>
          <p:cNvSpPr/>
          <p:nvPr/>
        </p:nvSpPr>
        <p:spPr>
          <a:xfrm>
            <a:off x="548640" y="1280160"/>
            <a:ext cx="6035040" cy="4892040"/>
          </a:xfrm>
          <a:prstGeom prst="roundRect">
            <a:avLst>
              <a:gd name="adj" fmla="val 2617"/>
            </a:avLst>
          </a:prstGeom>
          <a:solidFill>
            <a:srgbClr val="FFFFFF"/>
          </a:solidFill>
          <a:ln w="9525">
            <a:solidFill>
              <a:srgbClr val="DDE2E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68680" y="150876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2A4A"/>
                </a:solidFill>
              </a:rPr>
              <a:t>단계 칸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20574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B3550"/>
                </a:solidFill>
              </a:rPr>
              <a:t>매달 바뀌는 과정은 그대로 적어요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868680" y="2514600"/>
            <a:ext cx="1188720" cy="384048"/>
          </a:xfrm>
          <a:prstGeom prst="roundRect">
            <a:avLst>
              <a:gd name="adj" fmla="val 23810"/>
            </a:avLst>
          </a:prstGeom>
          <a:solidFill>
            <a:srgbClr val="EAF1FC"/>
          </a:solidFill>
          <a:ln w="9525">
            <a:solidFill>
              <a:srgbClr val="DDE2E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68680" y="2514600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A4A"/>
                </a:solidFill>
              </a:rPr>
              <a:t>독서1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2194560" y="2514600"/>
            <a:ext cx="1188720" cy="384048"/>
          </a:xfrm>
          <a:prstGeom prst="roundRect">
            <a:avLst>
              <a:gd name="adj" fmla="val 23810"/>
            </a:avLst>
          </a:prstGeom>
          <a:solidFill>
            <a:srgbClr val="EAF1FC"/>
          </a:solidFill>
          <a:ln w="9525">
            <a:solidFill>
              <a:srgbClr val="DDE2E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194560" y="2514600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A4A"/>
                </a:solidFill>
              </a:rPr>
              <a:t>논리2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3520440" y="2514600"/>
            <a:ext cx="1188720" cy="384048"/>
          </a:xfrm>
          <a:prstGeom prst="roundRect">
            <a:avLst>
              <a:gd name="adj" fmla="val 23810"/>
            </a:avLst>
          </a:prstGeom>
          <a:solidFill>
            <a:srgbClr val="EAF1FC"/>
          </a:solidFill>
          <a:ln w="9525">
            <a:solidFill>
              <a:srgbClr val="DDE2E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520440" y="2514600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A4A"/>
                </a:solidFill>
              </a:rPr>
              <a:t>소1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846320" y="2514600"/>
            <a:ext cx="1188720" cy="384048"/>
          </a:xfrm>
          <a:prstGeom prst="roundRect">
            <a:avLst>
              <a:gd name="adj" fmla="val 23810"/>
            </a:avLst>
          </a:prstGeom>
          <a:solidFill>
            <a:srgbClr val="EAF1FC"/>
          </a:solidFill>
          <a:ln w="9525">
            <a:solidFill>
              <a:srgbClr val="DDE2E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846320" y="2514600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A4A"/>
                </a:solidFill>
              </a:rPr>
              <a:t>새싹2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68680" y="31546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B3550"/>
                </a:solidFill>
              </a:rPr>
              <a:t>호로 나가는 과정은 호수까지 적어요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868680" y="3611880"/>
            <a:ext cx="1188720" cy="384048"/>
          </a:xfrm>
          <a:prstGeom prst="roundRect">
            <a:avLst>
              <a:gd name="adj" fmla="val 23810"/>
            </a:avLst>
          </a:prstGeom>
          <a:solidFill>
            <a:srgbClr val="EAF1FC"/>
          </a:solidFill>
          <a:ln w="9525">
            <a:solidFill>
              <a:srgbClr val="DDE2EA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68680" y="3611880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A4A"/>
                </a:solidFill>
              </a:rPr>
              <a:t>몰입C1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2194560" y="3611880"/>
            <a:ext cx="1874520" cy="384048"/>
          </a:xfrm>
          <a:prstGeom prst="roundRect">
            <a:avLst>
              <a:gd name="adj" fmla="val 23810"/>
            </a:avLst>
          </a:prstGeom>
          <a:solidFill>
            <a:srgbClr val="EAF1FC"/>
          </a:solidFill>
          <a:ln w="9525">
            <a:solidFill>
              <a:srgbClr val="DDE2EA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2194560" y="3611880"/>
            <a:ext cx="1874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A4A"/>
                </a:solidFill>
              </a:rPr>
              <a:t>세계사통사2호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206240" y="3611880"/>
            <a:ext cx="2103120" cy="384048"/>
          </a:xfrm>
          <a:prstGeom prst="roundRect">
            <a:avLst>
              <a:gd name="adj" fmla="val 23810"/>
            </a:avLst>
          </a:prstGeom>
          <a:solidFill>
            <a:srgbClr val="EAF1FC"/>
          </a:solidFill>
          <a:ln w="9525">
            <a:solidFill>
              <a:srgbClr val="DDE2EA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206240" y="3611880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A4A"/>
                </a:solidFill>
              </a:rPr>
              <a:t>교과문학탐독1호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868680" y="42519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B3550"/>
                </a:solidFill>
              </a:rPr>
              <a:t>호수가 없으면 책을 찾지 못해요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868680" y="4709160"/>
            <a:ext cx="1188720" cy="384048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9525">
            <a:solidFill>
              <a:srgbClr val="DDE2EA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68680" y="4709160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trike="sngStrike" dirty="0">
                <a:solidFill>
                  <a:srgbClr val="C0392B"/>
                </a:solidFill>
              </a:rPr>
              <a:t>세계사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2194560" y="4709160"/>
            <a:ext cx="1188720" cy="384048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9525">
            <a:solidFill>
              <a:srgbClr val="DDE2EA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194560" y="4709160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trike="sngStrike" dirty="0">
                <a:solidFill>
                  <a:srgbClr val="C0392B"/>
                </a:solidFill>
              </a:rPr>
              <a:t>고등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868680" y="5257800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680"/>
                </a:solidFill>
              </a:rPr>
              <a:t>이렇게 적으면 페이지에서 과정을 직접 골라야 해요</a:t>
            </a:r>
            <a:endParaRPr lang="en-US" sz="1300" dirty="0"/>
          </a:p>
        </p:txBody>
      </p:sp>
      <p:sp>
        <p:nvSpPr>
          <p:cNvPr id="29" name="card"/>
          <p:cNvSpPr/>
          <p:nvPr/>
        </p:nvSpPr>
        <p:spPr>
          <a:xfrm>
            <a:off x="6858000" y="1280160"/>
            <a:ext cx="4754880" cy="3017520"/>
          </a:xfrm>
          <a:prstGeom prst="roundRect">
            <a:avLst>
              <a:gd name="adj" fmla="val 4242"/>
            </a:avLst>
          </a:prstGeom>
          <a:solidFill>
            <a:srgbClr val="FFFFFF"/>
          </a:solidFill>
          <a:ln w="9525">
            <a:solidFill>
              <a:srgbClr val="DDE2EA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132320" y="150876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2A4A"/>
                </a:solidFill>
              </a:rPr>
              <a:t>특이사항 칸 = 맨 아래 인사말</a:t>
            </a:r>
            <a:endParaRPr lang="en-US" sz="2000" dirty="0"/>
          </a:p>
        </p:txBody>
      </p:sp>
      <p:sp>
        <p:nvSpPr>
          <p:cNvPr id="31" name="Shape 29"/>
          <p:cNvSpPr/>
          <p:nvPr/>
        </p:nvSpPr>
        <p:spPr>
          <a:xfrm>
            <a:off x="7132320" y="2103120"/>
            <a:ext cx="4206240" cy="640080"/>
          </a:xfrm>
          <a:prstGeom prst="roundRect">
            <a:avLst>
              <a:gd name="adj" fmla="val 11429"/>
            </a:avLst>
          </a:prstGeom>
          <a:solidFill>
            <a:srgbClr val="FFF4D6"/>
          </a:solidFill>
          <a:ln w="12700">
            <a:solidFill>
              <a:srgbClr val="E9D9A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7269480" y="2103120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B3550"/>
                </a:solidFill>
              </a:rPr>
              <a:t>11월 17일은 보강이 있어요. 감사합니다^^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7132320" y="2880360"/>
            <a:ext cx="4297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680"/>
                </a:solidFill>
              </a:rPr>
              <a:t>적은 문구가 수업계획서 맨 아래 인사말로 들어가요.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680"/>
                </a:solidFill>
              </a:rPr>
              <a:t>비워 두면 기본 인사말이 들어가요.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7132320" y="3611880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A94AA"/>
                </a:solidFill>
              </a:rPr>
              <a:t>기본: 안녕하세요 한우리입니다. ○월 수업계획서입니다. 확인 부탁드립니다. 감사합니다^^</a:t>
            </a:r>
            <a:endParaRPr lang="en-US" sz="1100" dirty="0"/>
          </a:p>
        </p:txBody>
      </p:sp>
      <p:sp>
        <p:nvSpPr>
          <p:cNvPr id="35" name="card"/>
          <p:cNvSpPr/>
          <p:nvPr/>
        </p:nvSpPr>
        <p:spPr>
          <a:xfrm>
            <a:off x="6858000" y="4526280"/>
            <a:ext cx="4754880" cy="164592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9525">
            <a:solidFill>
              <a:srgbClr val="DDE2EA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7132320" y="4709160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2A4A"/>
                </a:solidFill>
              </a:rPr>
              <a:t>두 과정을 번갈아 하는 반</a:t>
            </a:r>
            <a:endParaRPr lang="en-US" sz="1800" dirty="0"/>
          </a:p>
        </p:txBody>
      </p:sp>
      <p:sp>
        <p:nvSpPr>
          <p:cNvPr id="37" name="Text 35"/>
          <p:cNvSpPr txBox="1"/>
          <p:nvPr/>
        </p:nvSpPr>
        <p:spPr>
          <a:xfrm>
            <a:off x="7132320" y="5166360"/>
            <a:ext cx="4297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680"/>
                </a:solidFill>
              </a:rPr>
              <a:t>과정마다 한 줄씩 단계와 수업일을 따로 적고, No 칸만 합쳐 주세요.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4A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9692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수업계획서 탭에서 엑셀을 올려요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10241280" y="457200"/>
            <a:ext cx="1417320" cy="438912"/>
          </a:xfrm>
          <a:prstGeom prst="roundRect">
            <a:avLst>
              <a:gd name="adj" fmla="val 50000"/>
            </a:avLst>
          </a:prstGeom>
          <a:solidFill>
            <a:srgbClr val="EAF1FC"/>
          </a:solidFill>
          <a:ln w="12700">
            <a:solidFill>
              <a:srgbClr val="EAF1F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0241280" y="457200"/>
            <a:ext cx="1417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A7BD0"/>
                </a:solidFill>
              </a:rPr>
              <a:t>2단계</a:t>
            </a:r>
            <a:endParaRPr lang="en-US" sz="1400" dirty="0"/>
          </a:p>
        </p:txBody>
      </p:sp>
      <p:sp>
        <p:nvSpPr>
          <p:cNvPr id="5" name="card"/>
          <p:cNvSpPr/>
          <p:nvPr/>
        </p:nvSpPr>
        <p:spPr>
          <a:xfrm>
            <a:off x="548640" y="1280160"/>
            <a:ext cx="4023360" cy="4892040"/>
          </a:xfrm>
          <a:prstGeom prst="roundRect">
            <a:avLst>
              <a:gd name="adj" fmla="val 3182"/>
            </a:avLst>
          </a:prstGeom>
          <a:solidFill>
            <a:srgbClr val="FFFFFF"/>
          </a:solidFill>
          <a:ln w="9525">
            <a:solidFill>
              <a:srgbClr val="DDE2EA"/>
            </a:solidFill>
            <a:prstDash val="solid"/>
          </a:ln>
        </p:spPr>
      </p:sp>
      <p:pic>
        <p:nvPicPr>
          <p:cNvPr id="6" name="Image 0" descr="수업 도우미 QR 코드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88720" y="1554480"/>
            <a:ext cx="2743200" cy="27432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31520" y="443484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F2A4A"/>
                </a:solidFill>
              </a:rPr>
              <a:t>수업도우미 → 수업계획서 탭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489204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B6680"/>
                </a:solidFill>
              </a:rPr>
              <a:t>여기서 올린 반 명단은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5B6680"/>
                </a:solidFill>
              </a:rPr>
              <a:t>숙제·피드백 탭에도 같이 들어가요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910328" y="1298448"/>
            <a:ext cx="3192484" cy="3438144"/>
          </a:xfrm>
          <a:prstGeom prst="roundRect">
            <a:avLst>
              <a:gd name="adj" fmla="val 3437"/>
            </a:avLst>
          </a:prstGeom>
          <a:solidFill>
            <a:srgbClr val="FFFFFF"/>
          </a:solidFill>
          <a:ln w="12700">
            <a:solidFill>
              <a:srgbClr val="C9D0DC"/>
            </a:solidFill>
            <a:prstDash val="solid"/>
          </a:ln>
          <a:effectLst>
            <a:outerShdw sx="100000" sy="100000" kx="0" ky="0" algn="bl" rotWithShape="0" blurRad="101600" dist="38100" dir="5400000">
              <a:srgbClr val="1F2A4A">
                <a:alpha val="18000"/>
              </a:srgbClr>
            </a:outerShdw>
          </a:effectLst>
        </p:spPr>
      </p:sp>
      <p:pic>
        <p:nvPicPr>
          <p:cNvPr id="10" name="Image 1" descr="페이지 화면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3480" y="1371600"/>
            <a:ext cx="3046180" cy="329184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8156448" y="1298448"/>
            <a:ext cx="2980944" cy="3438144"/>
          </a:xfrm>
          <a:prstGeom prst="roundRect">
            <a:avLst>
              <a:gd name="adj" fmla="val 3681"/>
            </a:avLst>
          </a:prstGeom>
          <a:solidFill>
            <a:srgbClr val="FFFFFF"/>
          </a:solidFill>
          <a:ln w="12700">
            <a:solidFill>
              <a:srgbClr val="C9D0DC"/>
            </a:solidFill>
            <a:prstDash val="solid"/>
          </a:ln>
          <a:effectLst>
            <a:outerShdw sx="100000" sy="100000" kx="0" ky="0" algn="bl" rotWithShape="0" blurRad="101600" dist="38100" dir="5400000">
              <a:srgbClr val="1F2A4A">
                <a:alpha val="18000"/>
              </a:srgbClr>
            </a:outerShdw>
          </a:effectLst>
        </p:spPr>
      </p:sp>
      <p:pic>
        <p:nvPicPr>
          <p:cNvPr id="12" name="Image 2" descr="페이지 화면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0" y="1371600"/>
            <a:ext cx="2834640" cy="3291840"/>
          </a:xfrm>
          <a:prstGeom prst="rect">
            <a:avLst/>
          </a:prstGeom>
        </p:spPr>
      </p:pic>
      <p:sp>
        <p:nvSpPr>
          <p:cNvPr id="13" name="num1"/>
          <p:cNvSpPr/>
          <p:nvPr/>
        </p:nvSpPr>
        <p:spPr>
          <a:xfrm>
            <a:off x="4937760" y="5001768"/>
            <a:ext cx="384048" cy="384048"/>
          </a:xfrm>
          <a:prstGeom prst="ellipse">
            <a:avLst/>
          </a:prstGeom>
          <a:solidFill>
            <a:srgbClr val="1F2A4A"/>
          </a:solidFill>
          <a:ln w="12700">
            <a:solidFill>
              <a:srgbClr val="1F2A4A"/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4937760" y="50017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sp>
        <p:nvSpPr>
          <p:cNvPr id="15" name="Text 10"/>
          <p:cNvSpPr txBox="1"/>
          <p:nvPr/>
        </p:nvSpPr>
        <p:spPr>
          <a:xfrm>
            <a:off x="5486400" y="4946904"/>
            <a:ext cx="6126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2B3550"/>
                </a:solidFill>
              </a:rPr>
              <a:t>'여기를 눌러 엑셀 파일을 고르세요'를 눌러요</a:t>
            </a:r>
            <a:endParaRPr lang="en-US" sz="16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5B6680"/>
                </a:solidFill>
              </a:rPr>
              <a:t>컴퓨터에서는 파일을 끌어다 놓아도 돼요</a:t>
            </a:r>
            <a:endParaRPr lang="en-US" sz="1600" dirty="0"/>
          </a:p>
        </p:txBody>
      </p:sp>
      <p:sp>
        <p:nvSpPr>
          <p:cNvPr id="16" name="num2"/>
          <p:cNvSpPr/>
          <p:nvPr/>
        </p:nvSpPr>
        <p:spPr>
          <a:xfrm>
            <a:off x="4937760" y="5660136"/>
            <a:ext cx="384048" cy="384048"/>
          </a:xfrm>
          <a:prstGeom prst="ellipse">
            <a:avLst/>
          </a:prstGeom>
          <a:solidFill>
            <a:srgbClr val="1F2A4A"/>
          </a:solidFill>
          <a:ln w="12700">
            <a:solidFill>
              <a:srgbClr val="1F2A4A"/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4937760" y="56601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2</a:t>
            </a:r>
            <a:endParaRPr lang="en-US" sz="1600" dirty="0"/>
          </a:p>
        </p:txBody>
      </p:sp>
      <p:sp>
        <p:nvSpPr>
          <p:cNvPr id="18" name="Text 13"/>
          <p:cNvSpPr txBox="1"/>
          <p:nvPr/>
        </p:nvSpPr>
        <p:spPr>
          <a:xfrm>
            <a:off x="5486400" y="5605272"/>
            <a:ext cx="6126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2B3550"/>
                </a:solidFill>
              </a:rPr>
              <a:t>'○개 반을 찾았어요'가 나오면 다 된 거예요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4A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9692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반별로 확인하고 글자를 고쳐요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10241280" y="457200"/>
            <a:ext cx="1417320" cy="438912"/>
          </a:xfrm>
          <a:prstGeom prst="roundRect">
            <a:avLst>
              <a:gd name="adj" fmla="val 50000"/>
            </a:avLst>
          </a:prstGeom>
          <a:solidFill>
            <a:srgbClr val="EAF1FC"/>
          </a:solidFill>
          <a:ln w="12700">
            <a:solidFill>
              <a:srgbClr val="EAF1F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0241280" y="457200"/>
            <a:ext cx="1417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A7BD0"/>
                </a:solidFill>
              </a:rPr>
              <a:t>3단계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58368" y="1298448"/>
            <a:ext cx="2848952" cy="4855464"/>
          </a:xfrm>
          <a:prstGeom prst="roundRect">
            <a:avLst>
              <a:gd name="adj" fmla="val 3852"/>
            </a:avLst>
          </a:prstGeom>
          <a:solidFill>
            <a:srgbClr val="FFFFFF"/>
          </a:solidFill>
          <a:ln w="12700">
            <a:solidFill>
              <a:srgbClr val="C9D0DC"/>
            </a:solidFill>
            <a:prstDash val="solid"/>
          </a:ln>
          <a:effectLst>
            <a:outerShdw sx="100000" sy="100000" kx="0" ky="0" algn="bl" rotWithShape="0" blurRad="101600" dist="38100" dir="5400000">
              <a:srgbClr val="1F2A4A">
                <a:alpha val="18000"/>
              </a:srgbClr>
            </a:outerShdw>
          </a:effectLst>
        </p:spPr>
      </p:sp>
      <p:pic>
        <p:nvPicPr>
          <p:cNvPr id="6" name="Image 0" descr="페이지 화면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371600"/>
            <a:ext cx="2702648" cy="4709160"/>
          </a:xfrm>
          <a:prstGeom prst="rect">
            <a:avLst/>
          </a:prstGeom>
        </p:spPr>
      </p:pic>
      <p:sp>
        <p:nvSpPr>
          <p:cNvPr id="7" name="num1"/>
          <p:cNvSpPr/>
          <p:nvPr/>
        </p:nvSpPr>
        <p:spPr>
          <a:xfrm>
            <a:off x="3977640" y="1481328"/>
            <a:ext cx="384048" cy="384048"/>
          </a:xfrm>
          <a:prstGeom prst="ellipse">
            <a:avLst/>
          </a:prstGeom>
          <a:solidFill>
            <a:srgbClr val="1F2A4A"/>
          </a:solidFill>
          <a:ln w="12700">
            <a:solidFill>
              <a:srgbClr val="1F2A4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3977640" y="14813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4526280" y="1426464"/>
            <a:ext cx="3291840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b="1" dirty="0">
                <a:solidFill>
                  <a:srgbClr val="2B3550"/>
                </a:solidFill>
              </a:rPr>
              <a:t>이름과 수업일이 맞는지 확인해요</a:t>
            </a:r>
            <a:endParaRPr lang="en-US" sz="17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5B6680"/>
                </a:solidFill>
              </a:rPr>
              <a:t>반마다 미리보기가 하나씩 나와요</a:t>
            </a:r>
            <a:endParaRPr lang="en-US" sz="1700" dirty="0"/>
          </a:p>
        </p:txBody>
      </p:sp>
      <p:sp>
        <p:nvSpPr>
          <p:cNvPr id="10" name="num2"/>
          <p:cNvSpPr/>
          <p:nvPr/>
        </p:nvSpPr>
        <p:spPr>
          <a:xfrm>
            <a:off x="3977640" y="2715768"/>
            <a:ext cx="384048" cy="384048"/>
          </a:xfrm>
          <a:prstGeom prst="ellipse">
            <a:avLst/>
          </a:prstGeom>
          <a:solidFill>
            <a:srgbClr val="1F2A4A"/>
          </a:solidFill>
          <a:ln w="12700">
            <a:solidFill>
              <a:srgbClr val="1F2A4A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977640" y="27157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2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4526280" y="2660904"/>
            <a:ext cx="3291840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b="1" dirty="0">
                <a:solidFill>
                  <a:srgbClr val="2B3550"/>
                </a:solidFill>
              </a:rPr>
              <a:t>점선 글자를 누르면 고치는 칸이 열려요</a:t>
            </a:r>
            <a:endParaRPr lang="en-US" sz="17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5B6680"/>
                </a:solidFill>
              </a:rPr>
              <a:t>제목, 수업시간, 필독서, 소개, 인사말 모두 고칠 수 있어요</a:t>
            </a:r>
            <a:endParaRPr lang="en-US" sz="1700" dirty="0"/>
          </a:p>
        </p:txBody>
      </p:sp>
      <p:sp>
        <p:nvSpPr>
          <p:cNvPr id="13" name="num3"/>
          <p:cNvSpPr/>
          <p:nvPr/>
        </p:nvSpPr>
        <p:spPr>
          <a:xfrm>
            <a:off x="3977640" y="3950208"/>
            <a:ext cx="384048" cy="384048"/>
          </a:xfrm>
          <a:prstGeom prst="ellipse">
            <a:avLst/>
          </a:prstGeom>
          <a:solidFill>
            <a:srgbClr val="1F2A4A"/>
          </a:solidFill>
          <a:ln w="12700">
            <a:solidFill>
              <a:srgbClr val="1F2A4A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397764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3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4526280" y="3895344"/>
            <a:ext cx="3291840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b="1" dirty="0">
                <a:solidFill>
                  <a:srgbClr val="2B3550"/>
                </a:solidFill>
              </a:rPr>
              <a:t>다 고치면 '다 고쳤어요'를 눌러요</a:t>
            </a:r>
            <a:endParaRPr lang="en-US" sz="1700" dirty="0"/>
          </a:p>
        </p:txBody>
      </p:sp>
      <p:sp>
        <p:nvSpPr>
          <p:cNvPr id="16" name="card"/>
          <p:cNvSpPr/>
          <p:nvPr/>
        </p:nvSpPr>
        <p:spPr>
          <a:xfrm>
            <a:off x="8138160" y="1280160"/>
            <a:ext cx="3474720" cy="4892040"/>
          </a:xfrm>
          <a:prstGeom prst="roundRect">
            <a:avLst>
              <a:gd name="adj" fmla="val 3684"/>
            </a:avLst>
          </a:prstGeom>
          <a:solidFill>
            <a:srgbClr val="FFFFFF"/>
          </a:solidFill>
          <a:ln w="9525">
            <a:solidFill>
              <a:srgbClr val="DDE2EA"/>
            </a:solidFill>
            <a:prstDash val="solid"/>
          </a:ln>
        </p:spPr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66760" y="1508760"/>
            <a:ext cx="384048" cy="384048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8869680" y="1490472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07A3F"/>
                </a:solidFill>
              </a:rPr>
              <a:t>노란 안내가 뜨면</a:t>
            </a:r>
            <a:endParaRPr lang="en-US" sz="1700" dirty="0"/>
          </a:p>
        </p:txBody>
      </p:sp>
      <p:pic>
        <p:nvPicPr>
          <p:cNvPr id="19" name="Image 2" descr="노란 안내 화면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66760" y="2103120"/>
            <a:ext cx="3017520" cy="2560320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8366760" y="4846320"/>
            <a:ext cx="3063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B3550"/>
                </a:solidFill>
              </a:rPr>
              <a:t>단계 이름을 찾지 못한 경우예요.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B3550"/>
                </a:solidFill>
              </a:rPr>
              <a:t>'과정' 목록에서 맞는 과정을 골라 주세요.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4A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9692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이미지로 만들고 저장해요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10241280" y="457200"/>
            <a:ext cx="1417320" cy="438912"/>
          </a:xfrm>
          <a:prstGeom prst="roundRect">
            <a:avLst>
              <a:gd name="adj" fmla="val 50000"/>
            </a:avLst>
          </a:prstGeom>
          <a:solidFill>
            <a:srgbClr val="EAF1FC"/>
          </a:solidFill>
          <a:ln w="12700">
            <a:solidFill>
              <a:srgbClr val="EAF1F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0241280" y="457200"/>
            <a:ext cx="1417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A7BD0"/>
                </a:solidFill>
              </a:rPr>
              <a:t>4단계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58368" y="1298448"/>
            <a:ext cx="3842766" cy="4626864"/>
          </a:xfrm>
          <a:prstGeom prst="roundRect">
            <a:avLst>
              <a:gd name="adj" fmla="val 2855"/>
            </a:avLst>
          </a:prstGeom>
          <a:solidFill>
            <a:srgbClr val="FFFFFF"/>
          </a:solidFill>
          <a:ln w="12700">
            <a:solidFill>
              <a:srgbClr val="C9D0DC"/>
            </a:solidFill>
            <a:prstDash val="solid"/>
          </a:ln>
          <a:effectLst>
            <a:outerShdw sx="100000" sy="100000" kx="0" ky="0" algn="bl" rotWithShape="0" blurRad="101600" dist="38100" dir="5400000">
              <a:srgbClr val="1F2A4A">
                <a:alpha val="18000"/>
              </a:srgbClr>
            </a:outerShdw>
          </a:effectLst>
        </p:spPr>
      </p:sp>
      <p:pic>
        <p:nvPicPr>
          <p:cNvPr id="6" name="Image 0" descr="페이지 화면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371600"/>
            <a:ext cx="3696462" cy="448056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4681728" y="1298448"/>
            <a:ext cx="2237232" cy="4626864"/>
          </a:xfrm>
          <a:prstGeom prst="roundRect">
            <a:avLst>
              <a:gd name="adj" fmla="val 4905"/>
            </a:avLst>
          </a:prstGeom>
          <a:solidFill>
            <a:srgbClr val="FFFFFF"/>
          </a:solidFill>
          <a:ln w="12700">
            <a:solidFill>
              <a:srgbClr val="C9D0DC"/>
            </a:solidFill>
            <a:prstDash val="solid"/>
          </a:ln>
          <a:effectLst>
            <a:outerShdw sx="100000" sy="100000" kx="0" ky="0" algn="bl" rotWithShape="0" blurRad="101600" dist="38100" dir="5400000">
              <a:srgbClr val="1F2A4A">
                <a:alpha val="18000"/>
              </a:srgbClr>
            </a:outerShdw>
          </a:effectLst>
        </p:spPr>
      </p:sp>
      <p:pic>
        <p:nvPicPr>
          <p:cNvPr id="8" name="Image 1" descr="페이지 화면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1371600"/>
            <a:ext cx="2090928" cy="4480560"/>
          </a:xfrm>
          <a:prstGeom prst="rect">
            <a:avLst/>
          </a:prstGeom>
        </p:spPr>
      </p:pic>
      <p:sp>
        <p:nvSpPr>
          <p:cNvPr id="9" name="num1"/>
          <p:cNvSpPr/>
          <p:nvPr/>
        </p:nvSpPr>
        <p:spPr>
          <a:xfrm>
            <a:off x="7269480" y="1481328"/>
            <a:ext cx="384048" cy="384048"/>
          </a:xfrm>
          <a:prstGeom prst="ellipse">
            <a:avLst/>
          </a:prstGeom>
          <a:solidFill>
            <a:srgbClr val="1F2A4A"/>
          </a:solidFill>
          <a:ln w="12700">
            <a:solidFill>
              <a:srgbClr val="1F2A4A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7269480" y="14813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7818120" y="1426464"/>
            <a:ext cx="3794760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b="1" dirty="0">
                <a:solidFill>
                  <a:srgbClr val="2B3550"/>
                </a:solidFill>
              </a:rPr>
              <a:t>'이미지로 만들기'를 눌러요</a:t>
            </a:r>
            <a:endParaRPr lang="en-US" sz="17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5B6680"/>
                </a:solidFill>
              </a:rPr>
              <a:t>고친 그대로 그림이 만들어져요</a:t>
            </a:r>
            <a:endParaRPr lang="en-US" sz="1700" dirty="0"/>
          </a:p>
        </p:txBody>
      </p:sp>
      <p:sp>
        <p:nvSpPr>
          <p:cNvPr id="12" name="num2"/>
          <p:cNvSpPr/>
          <p:nvPr/>
        </p:nvSpPr>
        <p:spPr>
          <a:xfrm>
            <a:off x="7269480" y="2715768"/>
            <a:ext cx="384048" cy="384048"/>
          </a:xfrm>
          <a:prstGeom prst="ellipse">
            <a:avLst/>
          </a:prstGeom>
          <a:solidFill>
            <a:srgbClr val="1F2A4A"/>
          </a:solidFill>
          <a:ln w="12700">
            <a:solidFill>
              <a:srgbClr val="1F2A4A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7269480" y="27157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2</a:t>
            </a:r>
            <a:endParaRPr lang="en-US" sz="1600" dirty="0"/>
          </a:p>
        </p:txBody>
      </p:sp>
      <p:sp>
        <p:nvSpPr>
          <p:cNvPr id="14" name="Text 10"/>
          <p:cNvSpPr txBox="1"/>
          <p:nvPr/>
        </p:nvSpPr>
        <p:spPr>
          <a:xfrm>
            <a:off x="7818120" y="2660904"/>
            <a:ext cx="3794760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b="1" dirty="0">
                <a:solidFill>
                  <a:srgbClr val="2B3550"/>
                </a:solidFill>
              </a:rPr>
              <a:t>'이미지 저장'을 눌러요</a:t>
            </a:r>
            <a:endParaRPr lang="en-US" sz="17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5B6680"/>
                </a:solidFill>
              </a:rPr>
              <a:t>휴대폰·컴퓨터에 그림 파일로 저장돼요</a:t>
            </a:r>
            <a:endParaRPr lang="en-US" sz="1700" dirty="0"/>
          </a:p>
        </p:txBody>
      </p:sp>
      <p:sp>
        <p:nvSpPr>
          <p:cNvPr id="15" name="num3"/>
          <p:cNvSpPr/>
          <p:nvPr/>
        </p:nvSpPr>
        <p:spPr>
          <a:xfrm>
            <a:off x="7269480" y="3950208"/>
            <a:ext cx="384048" cy="384048"/>
          </a:xfrm>
          <a:prstGeom prst="ellipse">
            <a:avLst/>
          </a:prstGeom>
          <a:solidFill>
            <a:srgbClr val="1F2A4A"/>
          </a:solidFill>
          <a:ln w="12700">
            <a:solidFill>
              <a:srgbClr val="1F2A4A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726948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3</a:t>
            </a:r>
            <a:endParaRPr lang="en-US" sz="1600" dirty="0"/>
          </a:p>
        </p:txBody>
      </p:sp>
      <p:sp>
        <p:nvSpPr>
          <p:cNvPr id="17" name="Text 13"/>
          <p:cNvSpPr txBox="1"/>
          <p:nvPr/>
        </p:nvSpPr>
        <p:spPr>
          <a:xfrm>
            <a:off x="7818120" y="3895344"/>
            <a:ext cx="3794760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b="1" dirty="0">
                <a:solidFill>
                  <a:srgbClr val="2B3550"/>
                </a:solidFill>
              </a:rPr>
              <a:t>고친 뒤에는 다시 만들어요</a:t>
            </a:r>
            <a:endParaRPr lang="en-US" sz="17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5B6680"/>
                </a:solidFill>
              </a:rPr>
              <a:t>글자를 고치면 만들어 둔 그림이 사라져요</a:t>
            </a:r>
            <a:endParaRPr lang="en-US" sz="1700" dirty="0"/>
          </a:p>
        </p:txBody>
      </p:sp>
      <p:sp>
        <p:nvSpPr>
          <p:cNvPr id="18" name="card"/>
          <p:cNvSpPr/>
          <p:nvPr/>
        </p:nvSpPr>
        <p:spPr>
          <a:xfrm>
            <a:off x="7269480" y="5212080"/>
            <a:ext cx="4343400" cy="868680"/>
          </a:xfrm>
          <a:prstGeom prst="roundRect">
            <a:avLst>
              <a:gd name="adj" fmla="val 14737"/>
            </a:avLst>
          </a:prstGeom>
          <a:solidFill>
            <a:srgbClr val="EAF1FC"/>
          </a:solidFill>
          <a:ln w="9525">
            <a:solidFill>
              <a:srgbClr val="DDE2EA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7452360" y="5212080"/>
            <a:ext cx="4023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A4A"/>
                </a:solidFill>
              </a:rPr>
              <a:t>컴퓨터에서는 '전체 한 번에 저장(zip)'으로 모든 반을 한꺼번에 받을 수 있어요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4A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9692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학부모님께 보내요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10241280" y="457200"/>
            <a:ext cx="1417320" cy="438912"/>
          </a:xfrm>
          <a:prstGeom prst="roundRect">
            <a:avLst>
              <a:gd name="adj" fmla="val 50000"/>
            </a:avLst>
          </a:prstGeom>
          <a:solidFill>
            <a:srgbClr val="EAF1FC"/>
          </a:solidFill>
          <a:ln w="12700">
            <a:solidFill>
              <a:srgbClr val="EAF1F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0241280" y="457200"/>
            <a:ext cx="1417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A7BD0"/>
                </a:solidFill>
              </a:rPr>
              <a:t>5단계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58368" y="1298448"/>
            <a:ext cx="2228979" cy="4855464"/>
          </a:xfrm>
          <a:prstGeom prst="roundRect">
            <a:avLst>
              <a:gd name="adj" fmla="val 4923"/>
            </a:avLst>
          </a:prstGeom>
          <a:solidFill>
            <a:srgbClr val="FFFFFF"/>
          </a:solidFill>
          <a:ln w="12700">
            <a:solidFill>
              <a:srgbClr val="C9D0DC"/>
            </a:solidFill>
            <a:prstDash val="solid"/>
          </a:ln>
          <a:effectLst>
            <a:outerShdw sx="100000" sy="100000" kx="0" ky="0" algn="bl" rotWithShape="0" blurRad="101600" dist="38100" dir="5400000">
              <a:srgbClr val="1F2A4A">
                <a:alpha val="18000"/>
              </a:srgbClr>
            </a:outerShdw>
          </a:effectLst>
        </p:spPr>
      </p:sp>
      <p:pic>
        <p:nvPicPr>
          <p:cNvPr id="6" name="Image 0" descr="완성된 수업계획서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371600"/>
            <a:ext cx="2082675" cy="470916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3246120" y="2514600"/>
            <a:ext cx="822960" cy="822960"/>
          </a:xfrm>
          <a:prstGeom prst="ellipse">
            <a:avLst/>
          </a:prstGeom>
          <a:solidFill>
            <a:srgbClr val="1F2A4A"/>
          </a:solidFill>
          <a:ln w="12700">
            <a:solidFill>
              <a:srgbClr val="1F2A4A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43630" y="2712110"/>
            <a:ext cx="427939" cy="427939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3246120" y="1417320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F2A4A"/>
                </a:solidFill>
              </a:rPr>
              <a:t>저장한 이미지를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1F2A4A"/>
                </a:solidFill>
              </a:rPr>
              <a:t>카톡으로 보내면 끝이에요</a:t>
            </a:r>
            <a:endParaRPr lang="en-US" sz="1800" dirty="0"/>
          </a:p>
        </p:txBody>
      </p:sp>
      <p:sp>
        <p:nvSpPr>
          <p:cNvPr id="10" name="card"/>
          <p:cNvSpPr/>
          <p:nvPr/>
        </p:nvSpPr>
        <p:spPr>
          <a:xfrm>
            <a:off x="6400800" y="1280160"/>
            <a:ext cx="5212080" cy="4892040"/>
          </a:xfrm>
          <a:prstGeom prst="roundRect">
            <a:avLst>
              <a:gd name="adj" fmla="val 2617"/>
            </a:avLst>
          </a:prstGeom>
          <a:solidFill>
            <a:srgbClr val="FFFFFF"/>
          </a:solidFill>
          <a:ln w="9525">
            <a:solidFill>
              <a:srgbClr val="DDE2EA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6675120" y="146304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2A4A"/>
                </a:solidFill>
              </a:rPr>
              <a:t>이럴 땐 이렇게</a:t>
            </a:r>
            <a:endParaRPr lang="en-US" sz="2000" dirty="0"/>
          </a:p>
        </p:txBody>
      </p:sp>
      <p:sp>
        <p:nvSpPr>
          <p:cNvPr id="12" name="Text 8"/>
          <p:cNvSpPr txBox="1"/>
          <p:nvPr/>
        </p:nvSpPr>
        <p:spPr>
          <a:xfrm>
            <a:off x="6675120" y="205740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B3550"/>
                </a:solidFill>
              </a:rPr>
              <a:t>'책 정보 없음'이 나와요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6675120" y="2423160"/>
            <a:ext cx="4754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680"/>
                </a:solidFill>
              </a:rPr>
              <a:t>수업일이 차시보다 많거나 그달 계획안이 아직 없을 때예요. 지부장에게 알려 주세요.</a:t>
            </a:r>
            <a:endParaRPr lang="en-US" sz="1300" dirty="0"/>
          </a:p>
        </p:txBody>
      </p:sp>
      <p:sp>
        <p:nvSpPr>
          <p:cNvPr id="14" name="Text 10"/>
          <p:cNvSpPr txBox="1"/>
          <p:nvPr/>
        </p:nvSpPr>
        <p:spPr>
          <a:xfrm>
            <a:off x="6675120" y="306324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B3550"/>
                </a:solidFill>
              </a:rPr>
              <a:t>'이미지 저장' 버튼이 안 보여요</a:t>
            </a:r>
            <a:endParaRPr lang="en-US" sz="1500" dirty="0"/>
          </a:p>
        </p:txBody>
      </p:sp>
      <p:sp>
        <p:nvSpPr>
          <p:cNvPr id="15" name="Text 11"/>
          <p:cNvSpPr txBox="1"/>
          <p:nvPr/>
        </p:nvSpPr>
        <p:spPr>
          <a:xfrm>
            <a:off x="6675120" y="3429000"/>
            <a:ext cx="4754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680"/>
                </a:solidFill>
              </a:rPr>
              <a:t>먼저 '이미지로 만들기'를 눌러 주세요.</a:t>
            </a:r>
            <a:endParaRPr lang="en-US" sz="1300" dirty="0"/>
          </a:p>
        </p:txBody>
      </p:sp>
      <p:sp>
        <p:nvSpPr>
          <p:cNvPr id="16" name="Text 12"/>
          <p:cNvSpPr txBox="1"/>
          <p:nvPr/>
        </p:nvSpPr>
        <p:spPr>
          <a:xfrm>
            <a:off x="6675120" y="40690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B3550"/>
                </a:solidFill>
              </a:rPr>
              <a:t>엑셀 적는 법이 헷갈려요</a:t>
            </a:r>
            <a:endParaRPr lang="en-US" sz="1500" dirty="0"/>
          </a:p>
        </p:txBody>
      </p:sp>
      <p:sp>
        <p:nvSpPr>
          <p:cNvPr id="17" name="Text 13"/>
          <p:cNvSpPr txBox="1"/>
          <p:nvPr/>
        </p:nvSpPr>
        <p:spPr>
          <a:xfrm>
            <a:off x="6675120" y="4434840"/>
            <a:ext cx="4754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680"/>
                </a:solidFill>
              </a:rPr>
              <a:t>페이지 맨 아래 '이번 달 등록된 과정과 책 보기'에서 확인해요.</a:t>
            </a:r>
            <a:endParaRPr lang="en-US" sz="1300" dirty="0"/>
          </a:p>
        </p:txBody>
      </p:sp>
      <p:sp>
        <p:nvSpPr>
          <p:cNvPr id="18" name="Text 14"/>
          <p:cNvSpPr txBox="1"/>
          <p:nvPr/>
        </p:nvSpPr>
        <p:spPr>
          <a:xfrm>
            <a:off x="6675120" y="507492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B3550"/>
                </a:solidFill>
              </a:rPr>
              <a:t>반이 이상하게 합쳐졌어요</a:t>
            </a:r>
            <a:endParaRPr lang="en-US" sz="1500" dirty="0"/>
          </a:p>
        </p:txBody>
      </p:sp>
      <p:sp>
        <p:nvSpPr>
          <p:cNvPr id="19" name="Text 15"/>
          <p:cNvSpPr txBox="1"/>
          <p:nvPr/>
        </p:nvSpPr>
        <p:spPr>
          <a:xfrm>
            <a:off x="6675120" y="5440680"/>
            <a:ext cx="4754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680"/>
                </a:solidFill>
              </a:rPr>
              <a:t>No 칸과 병합한 칸을 다시 확인해 주세요.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4A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86868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2B48C"/>
                </a:solidFill>
              </a:rPr>
              <a:t>2부</a:t>
            </a:r>
            <a:endParaRPr lang="en-US" sz="2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40080" y="14173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월간 숙제 안내문 만들기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3774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6DFF0"/>
                </a:solidFill>
              </a:rPr>
              <a:t>네 단계면 끝나요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40080" y="3383280"/>
            <a:ext cx="2528316" cy="1828800"/>
          </a:xfrm>
          <a:prstGeom prst="roundRect">
            <a:avLst>
              <a:gd name="adj" fmla="val 8000"/>
            </a:avLst>
          </a:prstGeom>
          <a:solidFill>
            <a:srgbClr val="2B3A63"/>
          </a:solidFill>
          <a:ln w="12700">
            <a:solidFill>
              <a:srgbClr val="3D4E7A"/>
            </a:solidFill>
            <a:prstDash val="solid"/>
          </a:ln>
        </p:spPr>
      </p:sp>
      <p:sp>
        <p:nvSpPr>
          <p:cNvPr id="6" name="num1"/>
          <p:cNvSpPr/>
          <p:nvPr/>
        </p:nvSpPr>
        <p:spPr>
          <a:xfrm>
            <a:off x="914400" y="3657600"/>
            <a:ext cx="502920" cy="5029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14400" y="36576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2A4A"/>
                </a:solidFill>
              </a:rPr>
              <a:t>1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4297680"/>
            <a:ext cx="207111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숙제 엑셀</a:t>
            </a:r>
            <a:endParaRPr lang="en-US" sz="1700" dirty="0"/>
          </a:p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준비하기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3424428" y="3383280"/>
            <a:ext cx="2528316" cy="1828800"/>
          </a:xfrm>
          <a:prstGeom prst="roundRect">
            <a:avLst>
              <a:gd name="adj" fmla="val 8000"/>
            </a:avLst>
          </a:prstGeom>
          <a:solidFill>
            <a:srgbClr val="2B3A63"/>
          </a:solidFill>
          <a:ln w="12700">
            <a:solidFill>
              <a:srgbClr val="3D4E7A"/>
            </a:solidFill>
            <a:prstDash val="solid"/>
          </a:ln>
        </p:spPr>
      </p:sp>
      <p:sp>
        <p:nvSpPr>
          <p:cNvPr id="10" name="num2"/>
          <p:cNvSpPr/>
          <p:nvPr/>
        </p:nvSpPr>
        <p:spPr>
          <a:xfrm>
            <a:off x="3698748" y="3657600"/>
            <a:ext cx="502920" cy="5029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698748" y="36576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2A4A"/>
                </a:solidFill>
              </a:rPr>
              <a:t>2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3698748" y="4297680"/>
            <a:ext cx="207111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숙제 안내문 탭에서</a:t>
            </a:r>
            <a:endParaRPr lang="en-US" sz="1700" dirty="0"/>
          </a:p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숙제 엑셀 올리기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6208776" y="3383280"/>
            <a:ext cx="2528316" cy="1828800"/>
          </a:xfrm>
          <a:prstGeom prst="roundRect">
            <a:avLst>
              <a:gd name="adj" fmla="val 8000"/>
            </a:avLst>
          </a:prstGeom>
          <a:solidFill>
            <a:srgbClr val="2B3A63"/>
          </a:solidFill>
          <a:ln w="12700">
            <a:solidFill>
              <a:srgbClr val="3D4E7A"/>
            </a:solidFill>
            <a:prstDash val="solid"/>
          </a:ln>
        </p:spPr>
      </p:sp>
      <p:sp>
        <p:nvSpPr>
          <p:cNvPr id="14" name="num3"/>
          <p:cNvSpPr/>
          <p:nvPr/>
        </p:nvSpPr>
        <p:spPr>
          <a:xfrm>
            <a:off x="6483096" y="3657600"/>
            <a:ext cx="502920" cy="5029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83096" y="36576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2A4A"/>
                </a:solidFill>
              </a:rPr>
              <a:t>3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6483096" y="4297680"/>
            <a:ext cx="207111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반별로 확인하고</a:t>
            </a:r>
            <a:endParaRPr lang="en-US" sz="1700" dirty="0"/>
          </a:p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장 수 맞추기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8993124" y="3383280"/>
            <a:ext cx="2528316" cy="1828800"/>
          </a:xfrm>
          <a:prstGeom prst="roundRect">
            <a:avLst>
              <a:gd name="adj" fmla="val 8000"/>
            </a:avLst>
          </a:prstGeom>
          <a:solidFill>
            <a:srgbClr val="2B3A63"/>
          </a:solidFill>
          <a:ln w="12700">
            <a:solidFill>
              <a:srgbClr val="3D4E7A"/>
            </a:solidFill>
            <a:prstDash val="solid"/>
          </a:ln>
        </p:spPr>
      </p:sp>
      <p:sp>
        <p:nvSpPr>
          <p:cNvPr id="18" name="num4"/>
          <p:cNvSpPr/>
          <p:nvPr/>
        </p:nvSpPr>
        <p:spPr>
          <a:xfrm>
            <a:off x="9267444" y="3657600"/>
            <a:ext cx="502920" cy="5029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9267444" y="36576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2A4A"/>
                </a:solidFill>
              </a:rPr>
              <a:t>4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9267444" y="4297680"/>
            <a:ext cx="207111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PDF·사진으로</a:t>
            </a:r>
            <a:endParaRPr lang="en-US" sz="1700" dirty="0"/>
          </a:p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저장하고 출력</a:t>
            </a:r>
            <a:endParaRPr lang="en-US" sz="1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9692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반 명단과 숙제 엑셀이 필요해요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10241280" y="457200"/>
            <a:ext cx="1417320" cy="438912"/>
          </a:xfrm>
          <a:prstGeom prst="roundRect">
            <a:avLst>
              <a:gd name="adj" fmla="val 50000"/>
            </a:avLst>
          </a:prstGeom>
          <a:solidFill>
            <a:srgbClr val="EAF1FC"/>
          </a:solidFill>
          <a:ln w="12700">
            <a:solidFill>
              <a:srgbClr val="EAF1F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0241280" y="457200"/>
            <a:ext cx="1417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A7BD0"/>
                </a:solidFill>
              </a:rPr>
              <a:t>1단계</a:t>
            </a:r>
            <a:endParaRPr lang="en-US" sz="1400" dirty="0"/>
          </a:p>
        </p:txBody>
      </p:sp>
      <p:sp>
        <p:nvSpPr>
          <p:cNvPr id="5" name="card"/>
          <p:cNvSpPr/>
          <p:nvPr/>
        </p:nvSpPr>
        <p:spPr>
          <a:xfrm>
            <a:off x="548640" y="1280160"/>
            <a:ext cx="4206240" cy="4892040"/>
          </a:xfrm>
          <a:prstGeom prst="roundRect">
            <a:avLst>
              <a:gd name="adj" fmla="val 3043"/>
            </a:avLst>
          </a:prstGeom>
          <a:solidFill>
            <a:srgbClr val="FFFFFF"/>
          </a:solidFill>
          <a:ln w="9525">
            <a:solidFill>
              <a:srgbClr val="DDE2E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150876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2A4A"/>
                </a:solidFill>
              </a:rPr>
              <a:t>① 반 명단 엑셀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011680"/>
            <a:ext cx="3749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2B3550"/>
                </a:solidFill>
              </a:rPr>
              <a:t>수업계획서 탭에서 이미 올렸다면 따로 올리지 않아도 돼요.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822960" y="2788920"/>
            <a:ext cx="3657600" cy="1828800"/>
          </a:xfrm>
          <a:prstGeom prst="roundRect">
            <a:avLst>
              <a:gd name="adj" fmla="val 5000"/>
            </a:avLst>
          </a:prstGeom>
          <a:solidFill>
            <a:srgbClr val="FFF4D6"/>
          </a:solidFill>
          <a:ln w="12700">
            <a:solidFill>
              <a:srgbClr val="E9D9A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05840" y="2880360"/>
            <a:ext cx="33375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B3550"/>
                </a:solidFill>
              </a:rPr>
              <a:t>팀 이름으로 적었다면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B3550"/>
                </a:solidFill>
              </a:rPr>
              <a:t>'인원' 칸을 만들어 학생 수를 적어 주세요. 숙제 안내문 장 수가 자동으로 맞춰져요.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4846320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680"/>
                </a:solidFill>
              </a:rPr>
              <a:t>예) 이름: 목요일 1팀 → 인원: 3</a:t>
            </a:r>
            <a:endParaRPr lang="en-US" sz="1300" dirty="0"/>
          </a:p>
        </p:txBody>
      </p:sp>
      <p:sp>
        <p:nvSpPr>
          <p:cNvPr id="11" name="card"/>
          <p:cNvSpPr/>
          <p:nvPr/>
        </p:nvSpPr>
        <p:spPr>
          <a:xfrm>
            <a:off x="5029200" y="1280160"/>
            <a:ext cx="6583680" cy="4892040"/>
          </a:xfrm>
          <a:prstGeom prst="roundRect">
            <a:avLst>
              <a:gd name="adj" fmla="val 2617"/>
            </a:avLst>
          </a:prstGeom>
          <a:solidFill>
            <a:srgbClr val="FFFFFF"/>
          </a:solidFill>
          <a:ln w="9525">
            <a:solidFill>
              <a:srgbClr val="DDE2E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303520" y="150876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07A3F"/>
                </a:solidFill>
              </a:rPr>
              <a:t>② 숙제 엑셀</a:t>
            </a:r>
            <a:endParaRPr lang="en-US" sz="2000" dirty="0"/>
          </a:p>
        </p:txBody>
      </p:sp>
      <p:pic>
        <p:nvPicPr>
          <p:cNvPr id="13" name="Image 0" descr="숙제 엑셀 예시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2057400"/>
            <a:ext cx="3200400" cy="2426572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8686800" y="2057400"/>
            <a:ext cx="274320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B3550"/>
                </a:solidFill>
              </a:rPr>
              <a:t>첫 줄: No 단계 차시 숙제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B3550"/>
                </a:solidFill>
              </a:rPr>
              <a:t>같은 단계는 단계 칸을 합쳐요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B3550"/>
                </a:solidFill>
              </a:rPr>
              <a:t>필독서는 비워도 자동으로 들어가요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B3550"/>
                </a:solidFill>
              </a:rPr>
              <a:t>'1.' '①'로 시작하는 줄이 숙제 한 개, 번호 없는 줄은 덧붙임 글이에요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B3550"/>
                </a:solidFill>
              </a:rPr>
              <a:t>호 과정은 호수까지 적어요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4A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9692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숙제 안내문 탭에서 숙제 엑셀을 올려요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10241280" y="457200"/>
            <a:ext cx="1417320" cy="438912"/>
          </a:xfrm>
          <a:prstGeom prst="roundRect">
            <a:avLst>
              <a:gd name="adj" fmla="val 50000"/>
            </a:avLst>
          </a:prstGeom>
          <a:solidFill>
            <a:srgbClr val="EAF1FC"/>
          </a:solidFill>
          <a:ln w="12700">
            <a:solidFill>
              <a:srgbClr val="EAF1F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0241280" y="457200"/>
            <a:ext cx="1417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A7BD0"/>
                </a:solidFill>
              </a:rPr>
              <a:t>2단계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58368" y="1298448"/>
            <a:ext cx="2446126" cy="4855464"/>
          </a:xfrm>
          <a:prstGeom prst="roundRect">
            <a:avLst>
              <a:gd name="adj" fmla="val 4486"/>
            </a:avLst>
          </a:prstGeom>
          <a:solidFill>
            <a:srgbClr val="FFFFFF"/>
          </a:solidFill>
          <a:ln w="12700">
            <a:solidFill>
              <a:srgbClr val="C9D0DC"/>
            </a:solidFill>
            <a:prstDash val="solid"/>
          </a:ln>
          <a:effectLst>
            <a:outerShdw sx="100000" sy="100000" kx="0" ky="0" algn="bl" rotWithShape="0" blurRad="101600" dist="38100" dir="5400000">
              <a:srgbClr val="1F2A4A">
                <a:alpha val="18000"/>
              </a:srgbClr>
            </a:outerShdw>
          </a:effectLst>
        </p:spPr>
      </p:sp>
      <p:pic>
        <p:nvPicPr>
          <p:cNvPr id="6" name="Image 0" descr="반 명단이 들어온 숙제 안내문 탭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371600"/>
            <a:ext cx="2299822" cy="4709160"/>
          </a:xfrm>
          <a:prstGeom prst="rect">
            <a:avLst/>
          </a:prstGeom>
        </p:spPr>
      </p:pic>
      <p:sp>
        <p:nvSpPr>
          <p:cNvPr id="7" name="num1"/>
          <p:cNvSpPr/>
          <p:nvPr/>
        </p:nvSpPr>
        <p:spPr>
          <a:xfrm>
            <a:off x="3840480" y="1481328"/>
            <a:ext cx="384048" cy="384048"/>
          </a:xfrm>
          <a:prstGeom prst="ellipse">
            <a:avLst/>
          </a:prstGeom>
          <a:solidFill>
            <a:srgbClr val="E07A3F"/>
          </a:solidFill>
          <a:ln w="12700">
            <a:solidFill>
              <a:srgbClr val="E07A3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3840480" y="14813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4389120" y="1426464"/>
            <a:ext cx="7132320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800" b="1" dirty="0">
                <a:solidFill>
                  <a:srgbClr val="2B3550"/>
                </a:solidFill>
              </a:rPr>
              <a:t>반 명단 칸에 초록색 파일 이름이 보여요</a:t>
            </a:r>
            <a:endParaRPr lang="en-US" sz="1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500" dirty="0">
                <a:solidFill>
                  <a:srgbClr val="5B6680"/>
                </a:solidFill>
              </a:rPr>
              <a:t>수업계획서 탭에서 올린 명단이 이미 들어와 있어요</a:t>
            </a:r>
            <a:endParaRPr lang="en-US" sz="1800" dirty="0"/>
          </a:p>
        </p:txBody>
      </p:sp>
      <p:sp>
        <p:nvSpPr>
          <p:cNvPr id="10" name="num2"/>
          <p:cNvSpPr/>
          <p:nvPr/>
        </p:nvSpPr>
        <p:spPr>
          <a:xfrm>
            <a:off x="3840480" y="2807208"/>
            <a:ext cx="384048" cy="384048"/>
          </a:xfrm>
          <a:prstGeom prst="ellipse">
            <a:avLst/>
          </a:prstGeom>
          <a:solidFill>
            <a:srgbClr val="E07A3F"/>
          </a:solidFill>
          <a:ln w="12700">
            <a:solidFill>
              <a:srgbClr val="E07A3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840480" y="2807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2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4389120" y="2752344"/>
            <a:ext cx="7132320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800" b="1" dirty="0">
                <a:solidFill>
                  <a:srgbClr val="2B3550"/>
                </a:solidFill>
              </a:rPr>
              <a:t>'숙제 엑셀' 칸을 눌러 파일을 골라요</a:t>
            </a:r>
            <a:endParaRPr lang="en-US" sz="1800" dirty="0"/>
          </a:p>
        </p:txBody>
      </p:sp>
      <p:sp>
        <p:nvSpPr>
          <p:cNvPr id="13" name="num3"/>
          <p:cNvSpPr/>
          <p:nvPr/>
        </p:nvSpPr>
        <p:spPr>
          <a:xfrm>
            <a:off x="3840480" y="4133088"/>
            <a:ext cx="384048" cy="384048"/>
          </a:xfrm>
          <a:prstGeom prst="ellipse">
            <a:avLst/>
          </a:prstGeom>
          <a:solidFill>
            <a:srgbClr val="E07A3F"/>
          </a:solidFill>
          <a:ln w="12700">
            <a:solidFill>
              <a:srgbClr val="E07A3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3840480" y="41330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3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4389120" y="4078224"/>
            <a:ext cx="7132320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800" b="1" dirty="0">
                <a:solidFill>
                  <a:srgbClr val="2B3550"/>
                </a:solidFill>
              </a:rPr>
              <a:t>아래에 반별 안내문이 바로 나와요</a:t>
            </a:r>
            <a:endParaRPr lang="en-US" sz="1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500" dirty="0">
                <a:solidFill>
                  <a:srgbClr val="5B6680"/>
                </a:solidFill>
              </a:rPr>
              <a:t>반 명단이 비어 있으면 여기서 같이 올려도 돼요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4A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9692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반별로 확인하고 장 수를 맞춰요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10241280" y="457200"/>
            <a:ext cx="1417320" cy="438912"/>
          </a:xfrm>
          <a:prstGeom prst="roundRect">
            <a:avLst>
              <a:gd name="adj" fmla="val 50000"/>
            </a:avLst>
          </a:prstGeom>
          <a:solidFill>
            <a:srgbClr val="EAF1FC"/>
          </a:solidFill>
          <a:ln w="12700">
            <a:solidFill>
              <a:srgbClr val="EAF1F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0241280" y="457200"/>
            <a:ext cx="1417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A7BD0"/>
                </a:solidFill>
              </a:rPr>
              <a:t>3단계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58368" y="1298448"/>
            <a:ext cx="3379361" cy="2889504"/>
          </a:xfrm>
          <a:prstGeom prst="roundRect">
            <a:avLst>
              <a:gd name="adj" fmla="val 3797"/>
            </a:avLst>
          </a:prstGeom>
          <a:solidFill>
            <a:srgbClr val="FFFFFF"/>
          </a:solidFill>
          <a:ln w="12700">
            <a:solidFill>
              <a:srgbClr val="C9D0DC"/>
            </a:solidFill>
            <a:prstDash val="solid"/>
          </a:ln>
          <a:effectLst>
            <a:outerShdw sx="100000" sy="100000" kx="0" ky="0" algn="bl" rotWithShape="0" blurRad="101600" dist="38100" dir="5400000">
              <a:srgbClr val="1F2A4A">
                <a:alpha val="18000"/>
              </a:srgbClr>
            </a:outerShdw>
          </a:effectLst>
        </p:spPr>
      </p:sp>
      <p:pic>
        <p:nvPicPr>
          <p:cNvPr id="6" name="Image 0" descr="페이지 화면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371600"/>
            <a:ext cx="3233057" cy="2743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4211465" y="1298448"/>
            <a:ext cx="3383852" cy="4855464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12700">
            <a:solidFill>
              <a:srgbClr val="C9D0DC"/>
            </a:solidFill>
            <a:prstDash val="solid"/>
          </a:ln>
          <a:effectLst>
            <a:outerShdw sx="100000" sy="100000" kx="0" ky="0" algn="bl" rotWithShape="0" blurRad="101600" dist="38100" dir="5400000">
              <a:srgbClr val="1F2A4A">
                <a:alpha val="18000"/>
              </a:srgbClr>
            </a:outerShdw>
          </a:effectLst>
        </p:spPr>
      </p:sp>
      <p:pic>
        <p:nvPicPr>
          <p:cNvPr id="8" name="Image 1" descr="페이지 화면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84617" y="1371600"/>
            <a:ext cx="3237548" cy="4709160"/>
          </a:xfrm>
          <a:prstGeom prst="rect">
            <a:avLst/>
          </a:prstGeom>
        </p:spPr>
      </p:pic>
      <p:sp>
        <p:nvSpPr>
          <p:cNvPr id="9" name="num1"/>
          <p:cNvSpPr/>
          <p:nvPr/>
        </p:nvSpPr>
        <p:spPr>
          <a:xfrm>
            <a:off x="7909560" y="1481328"/>
            <a:ext cx="384048" cy="384048"/>
          </a:xfrm>
          <a:prstGeom prst="ellipse">
            <a:avLst/>
          </a:prstGeom>
          <a:solidFill>
            <a:srgbClr val="E07A3F"/>
          </a:solidFill>
          <a:ln w="12700">
            <a:solidFill>
              <a:srgbClr val="E07A3F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7909560" y="14813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8458200" y="1426464"/>
            <a:ext cx="315468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b="1" dirty="0">
                <a:solidFill>
                  <a:srgbClr val="2B3550"/>
                </a:solidFill>
              </a:rPr>
              <a:t>장 수 = 학생 수</a:t>
            </a:r>
            <a:endParaRPr lang="en-US" sz="17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5B6680"/>
                </a:solidFill>
              </a:rPr>
              <a:t>A4 한 장에 두 개씩 들어가요</a:t>
            </a:r>
            <a:endParaRPr lang="en-US" sz="1700" dirty="0"/>
          </a:p>
        </p:txBody>
      </p:sp>
      <p:sp>
        <p:nvSpPr>
          <p:cNvPr id="12" name="num2"/>
          <p:cNvSpPr/>
          <p:nvPr/>
        </p:nvSpPr>
        <p:spPr>
          <a:xfrm>
            <a:off x="7909560" y="2670048"/>
            <a:ext cx="384048" cy="384048"/>
          </a:xfrm>
          <a:prstGeom prst="ellipse">
            <a:avLst/>
          </a:prstGeom>
          <a:solidFill>
            <a:srgbClr val="E07A3F"/>
          </a:solidFill>
          <a:ln w="12700">
            <a:solidFill>
              <a:srgbClr val="E07A3F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7909560" y="26700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2</a:t>
            </a:r>
            <a:endParaRPr lang="en-US" sz="1600" dirty="0"/>
          </a:p>
        </p:txBody>
      </p:sp>
      <p:sp>
        <p:nvSpPr>
          <p:cNvPr id="14" name="Text 10"/>
          <p:cNvSpPr txBox="1"/>
          <p:nvPr/>
        </p:nvSpPr>
        <p:spPr>
          <a:xfrm>
            <a:off x="8458200" y="2615184"/>
            <a:ext cx="315468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b="1" dirty="0">
                <a:solidFill>
                  <a:srgbClr val="2B3550"/>
                </a:solidFill>
              </a:rPr>
              <a:t>체크를 빼면 그 반은 빠져요</a:t>
            </a:r>
            <a:endParaRPr lang="en-US" sz="1700" dirty="0"/>
          </a:p>
        </p:txBody>
      </p:sp>
      <p:sp>
        <p:nvSpPr>
          <p:cNvPr id="15" name="num3"/>
          <p:cNvSpPr/>
          <p:nvPr/>
        </p:nvSpPr>
        <p:spPr>
          <a:xfrm>
            <a:off x="7909560" y="3858768"/>
            <a:ext cx="384048" cy="384048"/>
          </a:xfrm>
          <a:prstGeom prst="ellipse">
            <a:avLst/>
          </a:prstGeom>
          <a:solidFill>
            <a:srgbClr val="E07A3F"/>
          </a:solidFill>
          <a:ln w="12700">
            <a:solidFill>
              <a:srgbClr val="E07A3F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7909560" y="38587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3</a:t>
            </a:r>
            <a:endParaRPr lang="en-US" sz="1600" dirty="0"/>
          </a:p>
        </p:txBody>
      </p:sp>
      <p:sp>
        <p:nvSpPr>
          <p:cNvPr id="17" name="Text 13"/>
          <p:cNvSpPr txBox="1"/>
          <p:nvPr/>
        </p:nvSpPr>
        <p:spPr>
          <a:xfrm>
            <a:off x="8458200" y="3803904"/>
            <a:ext cx="315468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b="1" dirty="0">
                <a:solidFill>
                  <a:srgbClr val="2B3550"/>
                </a:solidFill>
              </a:rPr>
              <a:t>점선 글자를 눌러 고쳐요</a:t>
            </a:r>
            <a:endParaRPr lang="en-US" sz="17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5B6680"/>
                </a:solidFill>
              </a:rPr>
              <a:t>잘못 고쳤으면 '원래대로'</a:t>
            </a:r>
            <a:endParaRPr lang="en-US" sz="1700" dirty="0"/>
          </a:p>
        </p:txBody>
      </p:sp>
      <p:sp>
        <p:nvSpPr>
          <p:cNvPr id="18" name="card"/>
          <p:cNvSpPr/>
          <p:nvPr/>
        </p:nvSpPr>
        <p:spPr>
          <a:xfrm>
            <a:off x="548640" y="4434840"/>
            <a:ext cx="3611880" cy="1737360"/>
          </a:xfrm>
          <a:prstGeom prst="roundRect">
            <a:avLst>
              <a:gd name="adj" fmla="val 7368"/>
            </a:avLst>
          </a:prstGeom>
          <a:solidFill>
            <a:srgbClr val="FFF4D6"/>
          </a:solidFill>
          <a:ln w="9525">
            <a:solidFill>
              <a:srgbClr val="DDE2EA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777240" y="4572000"/>
            <a:ext cx="320040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B3550"/>
                </a:solidFill>
              </a:rPr>
              <a:t>숙제가 없는 과정은?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B3550"/>
                </a:solidFill>
              </a:rPr>
              <a:t>숙제 엑셀에 없는 과정(몰입독서, 어휘, 새싹 등)은 안내문을 만들지 않아요.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4A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9692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저장하고 출력해서 교재에 붙여요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10241280" y="457200"/>
            <a:ext cx="1417320" cy="438912"/>
          </a:xfrm>
          <a:prstGeom prst="roundRect">
            <a:avLst>
              <a:gd name="adj" fmla="val 50000"/>
            </a:avLst>
          </a:prstGeom>
          <a:solidFill>
            <a:srgbClr val="EAF1FC"/>
          </a:solidFill>
          <a:ln w="12700">
            <a:solidFill>
              <a:srgbClr val="EAF1F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0241280" y="457200"/>
            <a:ext cx="1417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A7BD0"/>
                </a:solidFill>
              </a:rPr>
              <a:t>4단계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58368" y="1298448"/>
            <a:ext cx="3986784" cy="1849743"/>
          </a:xfrm>
          <a:prstGeom prst="roundRect">
            <a:avLst>
              <a:gd name="adj" fmla="val 5932"/>
            </a:avLst>
          </a:prstGeom>
          <a:solidFill>
            <a:srgbClr val="FFFFFF"/>
          </a:solidFill>
          <a:ln w="12700">
            <a:solidFill>
              <a:srgbClr val="C9D0DC"/>
            </a:solidFill>
            <a:prstDash val="solid"/>
          </a:ln>
          <a:effectLst>
            <a:outerShdw sx="100000" sy="100000" kx="0" ky="0" algn="bl" rotWithShape="0" blurRad="101600" dist="38100" dir="5400000">
              <a:srgbClr val="1F2A4A">
                <a:alpha val="18000"/>
              </a:srgbClr>
            </a:outerShdw>
          </a:effectLst>
        </p:spPr>
      </p:sp>
      <p:pic>
        <p:nvPicPr>
          <p:cNvPr id="6" name="Image 0" descr="페이지 화면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371600"/>
            <a:ext cx="3840480" cy="1703439"/>
          </a:xfrm>
          <a:prstGeom prst="rect">
            <a:avLst/>
          </a:prstGeom>
        </p:spPr>
      </p:pic>
      <p:sp>
        <p:nvSpPr>
          <p:cNvPr id="7" name="num1"/>
          <p:cNvSpPr/>
          <p:nvPr/>
        </p:nvSpPr>
        <p:spPr>
          <a:xfrm>
            <a:off x="640080" y="3264408"/>
            <a:ext cx="384048" cy="384048"/>
          </a:xfrm>
          <a:prstGeom prst="ellipse">
            <a:avLst/>
          </a:prstGeom>
          <a:solidFill>
            <a:srgbClr val="E07A3F"/>
          </a:solidFill>
          <a:ln w="12700">
            <a:solidFill>
              <a:srgbClr val="E07A3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32644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1188720" y="3209544"/>
            <a:ext cx="35661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2B3550"/>
                </a:solidFill>
              </a:rPr>
              <a:t>PDF로 저장</a:t>
            </a:r>
            <a:endParaRPr lang="en-US" sz="16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5B6680"/>
                </a:solidFill>
              </a:rPr>
              <a:t>모든 반이 파일 하나에 들어가요. 한 번에 인쇄해요</a:t>
            </a:r>
            <a:endParaRPr lang="en-US" sz="1600" dirty="0"/>
          </a:p>
        </p:txBody>
      </p:sp>
      <p:sp>
        <p:nvSpPr>
          <p:cNvPr id="10" name="num2"/>
          <p:cNvSpPr/>
          <p:nvPr/>
        </p:nvSpPr>
        <p:spPr>
          <a:xfrm>
            <a:off x="640080" y="4270248"/>
            <a:ext cx="384048" cy="384048"/>
          </a:xfrm>
          <a:prstGeom prst="ellipse">
            <a:avLst/>
          </a:prstGeom>
          <a:solidFill>
            <a:srgbClr val="E07A3F"/>
          </a:solidFill>
          <a:ln w="12700">
            <a:solidFill>
              <a:srgbClr val="E07A3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40080" y="42702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2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1188720" y="4215384"/>
            <a:ext cx="35661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2B3550"/>
                </a:solidFill>
              </a:rPr>
              <a:t>사진으로 저장</a:t>
            </a:r>
            <a:endParaRPr lang="en-US" sz="16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5B6680"/>
                </a:solidFill>
              </a:rPr>
              <a:t>반마다 A4 한 장짜리 사진이 나와요</a:t>
            </a:r>
            <a:endParaRPr lang="en-US" sz="1600" dirty="0"/>
          </a:p>
        </p:txBody>
      </p:sp>
      <p:sp>
        <p:nvSpPr>
          <p:cNvPr id="13" name="num3"/>
          <p:cNvSpPr/>
          <p:nvPr/>
        </p:nvSpPr>
        <p:spPr>
          <a:xfrm>
            <a:off x="640080" y="5276088"/>
            <a:ext cx="384048" cy="384048"/>
          </a:xfrm>
          <a:prstGeom prst="ellipse">
            <a:avLst/>
          </a:prstGeom>
          <a:solidFill>
            <a:srgbClr val="E07A3F"/>
          </a:solidFill>
          <a:ln w="12700">
            <a:solidFill>
              <a:srgbClr val="E07A3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40080" y="52760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3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1188720" y="5221224"/>
            <a:ext cx="35661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2B3550"/>
                </a:solidFill>
              </a:rPr>
              <a:t>가운데 점선을 따라 잘라요</a:t>
            </a:r>
            <a:endParaRPr lang="en-US" sz="16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5B6680"/>
                </a:solidFill>
              </a:rPr>
              <a:t>교재에 한 장씩 붙여 주세요</a:t>
            </a:r>
            <a:endParaRPr lang="en-US" sz="1600" dirty="0"/>
          </a:p>
        </p:txBody>
      </p:sp>
      <p:sp>
        <p:nvSpPr>
          <p:cNvPr id="16" name="Shape 13"/>
          <p:cNvSpPr/>
          <p:nvPr/>
        </p:nvSpPr>
        <p:spPr>
          <a:xfrm>
            <a:off x="5102352" y="1307592"/>
            <a:ext cx="6528816" cy="4680393"/>
          </a:xfrm>
          <a:prstGeom prst="roundRect">
            <a:avLst>
              <a:gd name="adj" fmla="val 2344"/>
            </a:avLst>
          </a:prstGeom>
          <a:solidFill>
            <a:srgbClr val="FFFFFF"/>
          </a:solidFill>
          <a:ln w="12700">
            <a:solidFill>
              <a:srgbClr val="C9D0DC"/>
            </a:solidFill>
            <a:prstDash val="solid"/>
          </a:ln>
          <a:effectLst>
            <a:outerShdw sx="100000" sy="100000" kx="0" ky="0" algn="bl" rotWithShape="0" blurRad="101600" dist="38100" dir="5400000">
              <a:srgbClr val="1F2A4A">
                <a:alpha val="18000"/>
              </a:srgbClr>
            </a:outerShdw>
          </a:effectLst>
        </p:spPr>
      </p:sp>
      <p:pic>
        <p:nvPicPr>
          <p:cNvPr id="17" name="Image 1" descr="출력용 숙제 안내문 A4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12080" y="1417320"/>
            <a:ext cx="6309360" cy="4460937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5212080" y="6035040"/>
            <a:ext cx="6309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680"/>
                </a:solidFill>
              </a:rPr>
              <a:t>A4 가로 한 장 = 숙제 안내문 두 개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4A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86868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4A08E"/>
                </a:solidFill>
              </a:rPr>
              <a:t>3부</a:t>
            </a:r>
            <a:endParaRPr lang="en-US" sz="2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40080" y="14173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학생 피드백 만들기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3774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6DFF0"/>
                </a:solidFill>
              </a:rPr>
              <a:t>한 달 전체로도, 차시마다도 보낼 수 있어요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40080" y="3383280"/>
            <a:ext cx="2528316" cy="1828800"/>
          </a:xfrm>
          <a:prstGeom prst="roundRect">
            <a:avLst>
              <a:gd name="adj" fmla="val 8000"/>
            </a:avLst>
          </a:prstGeom>
          <a:solidFill>
            <a:srgbClr val="2B3A63"/>
          </a:solidFill>
          <a:ln w="12700">
            <a:solidFill>
              <a:srgbClr val="3D4E7A"/>
            </a:solidFill>
            <a:prstDash val="solid"/>
          </a:ln>
        </p:spPr>
      </p:sp>
      <p:sp>
        <p:nvSpPr>
          <p:cNvPr id="6" name="num1"/>
          <p:cNvSpPr/>
          <p:nvPr/>
        </p:nvSpPr>
        <p:spPr>
          <a:xfrm>
            <a:off x="914400" y="3657600"/>
            <a:ext cx="502920" cy="5029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14400" y="36576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2A4A"/>
                </a:solidFill>
              </a:rPr>
              <a:t>1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4297680"/>
            <a:ext cx="207111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학생과</a:t>
            </a:r>
            <a:endParaRPr lang="en-US" sz="1700" dirty="0"/>
          </a:p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보낼 범위 고르기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3424428" y="3383280"/>
            <a:ext cx="2528316" cy="1828800"/>
          </a:xfrm>
          <a:prstGeom prst="roundRect">
            <a:avLst>
              <a:gd name="adj" fmla="val 8000"/>
            </a:avLst>
          </a:prstGeom>
          <a:solidFill>
            <a:srgbClr val="2B3A63"/>
          </a:solidFill>
          <a:ln w="12700">
            <a:solidFill>
              <a:srgbClr val="3D4E7A"/>
            </a:solidFill>
            <a:prstDash val="solid"/>
          </a:ln>
        </p:spPr>
      </p:sp>
      <p:sp>
        <p:nvSpPr>
          <p:cNvPr id="10" name="num2"/>
          <p:cNvSpPr/>
          <p:nvPr/>
        </p:nvSpPr>
        <p:spPr>
          <a:xfrm>
            <a:off x="3698748" y="3657600"/>
            <a:ext cx="502920" cy="5029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698748" y="36576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2A4A"/>
                </a:solidFill>
              </a:rPr>
              <a:t>2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3698748" y="4297680"/>
            <a:ext cx="207111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수업 모습</a:t>
            </a:r>
            <a:endParaRPr lang="en-US" sz="1700" dirty="0"/>
          </a:p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체크하기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6208776" y="3383280"/>
            <a:ext cx="2528316" cy="1828800"/>
          </a:xfrm>
          <a:prstGeom prst="roundRect">
            <a:avLst>
              <a:gd name="adj" fmla="val 8000"/>
            </a:avLst>
          </a:prstGeom>
          <a:solidFill>
            <a:srgbClr val="2B3A63"/>
          </a:solidFill>
          <a:ln w="12700">
            <a:solidFill>
              <a:srgbClr val="3D4E7A"/>
            </a:solidFill>
            <a:prstDash val="solid"/>
          </a:ln>
        </p:spPr>
      </p:sp>
      <p:sp>
        <p:nvSpPr>
          <p:cNvPr id="14" name="num3"/>
          <p:cNvSpPr/>
          <p:nvPr/>
        </p:nvSpPr>
        <p:spPr>
          <a:xfrm>
            <a:off x="6483096" y="3657600"/>
            <a:ext cx="502920" cy="5029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83096" y="36576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2A4A"/>
                </a:solidFill>
              </a:rPr>
              <a:t>3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6483096" y="4297680"/>
            <a:ext cx="207111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문장 만들기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8993124" y="3383280"/>
            <a:ext cx="2528316" cy="1828800"/>
          </a:xfrm>
          <a:prstGeom prst="roundRect">
            <a:avLst>
              <a:gd name="adj" fmla="val 8000"/>
            </a:avLst>
          </a:prstGeom>
          <a:solidFill>
            <a:srgbClr val="2B3A63"/>
          </a:solidFill>
          <a:ln w="12700">
            <a:solidFill>
              <a:srgbClr val="3D4E7A"/>
            </a:solidFill>
            <a:prstDash val="solid"/>
          </a:ln>
        </p:spPr>
      </p:sp>
      <p:sp>
        <p:nvSpPr>
          <p:cNvPr id="18" name="num4"/>
          <p:cNvSpPr/>
          <p:nvPr/>
        </p:nvSpPr>
        <p:spPr>
          <a:xfrm>
            <a:off x="9267444" y="3657600"/>
            <a:ext cx="502920" cy="5029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9267444" y="36576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2A4A"/>
                </a:solidFill>
              </a:rPr>
              <a:t>4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9267444" y="4297680"/>
            <a:ext cx="207111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이미지 저장해서</a:t>
            </a:r>
            <a:endParaRPr lang="en-US" sz="1700" dirty="0"/>
          </a:p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보내기</a:t>
            </a:r>
            <a:endParaRPr lang="en-US" sz="17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9692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학생을 고르고 체크해요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10241280" y="457200"/>
            <a:ext cx="1417320" cy="438912"/>
          </a:xfrm>
          <a:prstGeom prst="roundRect">
            <a:avLst>
              <a:gd name="adj" fmla="val 50000"/>
            </a:avLst>
          </a:prstGeom>
          <a:solidFill>
            <a:srgbClr val="EAF1FC"/>
          </a:solidFill>
          <a:ln w="12700">
            <a:solidFill>
              <a:srgbClr val="EAF1F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0241280" y="457200"/>
            <a:ext cx="1417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A7BD0"/>
                </a:solidFill>
              </a:rPr>
              <a:t>1~2단계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58368" y="1298448"/>
            <a:ext cx="3438144" cy="2393201"/>
          </a:xfrm>
          <a:prstGeom prst="roundRect">
            <a:avLst>
              <a:gd name="adj" fmla="val 4585"/>
            </a:avLst>
          </a:prstGeom>
          <a:solidFill>
            <a:srgbClr val="FFFFFF"/>
          </a:solidFill>
          <a:ln w="12700">
            <a:solidFill>
              <a:srgbClr val="C9D0DC"/>
            </a:solidFill>
            <a:prstDash val="solid"/>
          </a:ln>
          <a:effectLst>
            <a:outerShdw sx="100000" sy="100000" kx="0" ky="0" algn="bl" rotWithShape="0" blurRad="101600" dist="38100" dir="5400000">
              <a:srgbClr val="1F2A4A">
                <a:alpha val="18000"/>
              </a:srgbClr>
            </a:outerShdw>
          </a:effectLst>
        </p:spPr>
      </p:sp>
      <p:pic>
        <p:nvPicPr>
          <p:cNvPr id="6" name="Image 0" descr="학생 고르기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371600"/>
            <a:ext cx="3291840" cy="2246897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4270248" y="1298448"/>
            <a:ext cx="4169664" cy="3904969"/>
          </a:xfrm>
          <a:prstGeom prst="roundRect">
            <a:avLst>
              <a:gd name="adj" fmla="val 2810"/>
            </a:avLst>
          </a:prstGeom>
          <a:solidFill>
            <a:srgbClr val="FFFFFF"/>
          </a:solidFill>
          <a:ln w="12700">
            <a:solidFill>
              <a:srgbClr val="C9D0DC"/>
            </a:solidFill>
            <a:prstDash val="solid"/>
          </a:ln>
          <a:effectLst>
            <a:outerShdw sx="100000" sy="100000" kx="0" ky="0" algn="bl" rotWithShape="0" blurRad="101600" dist="38100" dir="5400000">
              <a:srgbClr val="1F2A4A">
                <a:alpha val="18000"/>
              </a:srgbClr>
            </a:outerShdw>
          </a:effectLst>
        </p:spPr>
      </p:sp>
      <p:pic>
        <p:nvPicPr>
          <p:cNvPr id="8" name="Image 1" descr="수업 모습 체크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43400" y="1371600"/>
            <a:ext cx="4023360" cy="3758665"/>
          </a:xfrm>
          <a:prstGeom prst="rect">
            <a:avLst/>
          </a:prstGeom>
        </p:spPr>
      </p:pic>
      <p:sp>
        <p:nvSpPr>
          <p:cNvPr id="9" name="num1"/>
          <p:cNvSpPr/>
          <p:nvPr/>
        </p:nvSpPr>
        <p:spPr>
          <a:xfrm>
            <a:off x="8641080" y="1481328"/>
            <a:ext cx="384048" cy="384048"/>
          </a:xfrm>
          <a:prstGeom prst="ellipse">
            <a:avLst/>
          </a:prstGeom>
          <a:solidFill>
            <a:srgbClr val="D9533A"/>
          </a:solidFill>
          <a:ln w="12700">
            <a:solidFill>
              <a:srgbClr val="D9533A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8641080" y="14813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9189720" y="1426464"/>
            <a:ext cx="246888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2B3550"/>
                </a:solidFill>
              </a:rPr>
              <a:t>반 명단에서 학생을 골라요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5B6680"/>
                </a:solidFill>
              </a:rPr>
              <a:t>과정과 월·호가 자동으로 맞춰져요</a:t>
            </a:r>
            <a:endParaRPr lang="en-US" sz="1500" dirty="0"/>
          </a:p>
        </p:txBody>
      </p:sp>
      <p:sp>
        <p:nvSpPr>
          <p:cNvPr id="12" name="num2"/>
          <p:cNvSpPr/>
          <p:nvPr/>
        </p:nvSpPr>
        <p:spPr>
          <a:xfrm>
            <a:off x="8641080" y="2670048"/>
            <a:ext cx="384048" cy="384048"/>
          </a:xfrm>
          <a:prstGeom prst="ellipse">
            <a:avLst/>
          </a:prstGeom>
          <a:solidFill>
            <a:srgbClr val="D9533A"/>
          </a:solidFill>
          <a:ln w="12700">
            <a:solidFill>
              <a:srgbClr val="D9533A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8641080" y="26700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2</a:t>
            </a:r>
            <a:endParaRPr lang="en-US" sz="1600" dirty="0"/>
          </a:p>
        </p:txBody>
      </p:sp>
      <p:sp>
        <p:nvSpPr>
          <p:cNvPr id="14" name="Text 10"/>
          <p:cNvSpPr txBox="1"/>
          <p:nvPr/>
        </p:nvSpPr>
        <p:spPr>
          <a:xfrm>
            <a:off x="9189720" y="2615184"/>
            <a:ext cx="246888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2B3550"/>
                </a:solidFill>
              </a:rPr>
              <a:t>보낼 범위를 골라요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5B6680"/>
                </a:solidFill>
              </a:rPr>
              <a:t>한 달 전체 또는 1차시·2차시처럼 차시 하나</a:t>
            </a:r>
            <a:endParaRPr lang="en-US" sz="1500" dirty="0"/>
          </a:p>
        </p:txBody>
      </p:sp>
      <p:sp>
        <p:nvSpPr>
          <p:cNvPr id="15" name="num3"/>
          <p:cNvSpPr/>
          <p:nvPr/>
        </p:nvSpPr>
        <p:spPr>
          <a:xfrm>
            <a:off x="8641080" y="3858768"/>
            <a:ext cx="384048" cy="384048"/>
          </a:xfrm>
          <a:prstGeom prst="ellipse">
            <a:avLst/>
          </a:prstGeom>
          <a:solidFill>
            <a:srgbClr val="D9533A"/>
          </a:solidFill>
          <a:ln w="12700">
            <a:solidFill>
              <a:srgbClr val="D9533A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8641080" y="38587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3</a:t>
            </a:r>
            <a:endParaRPr lang="en-US" sz="1600" dirty="0"/>
          </a:p>
        </p:txBody>
      </p:sp>
      <p:sp>
        <p:nvSpPr>
          <p:cNvPr id="17" name="Text 13"/>
          <p:cNvSpPr txBox="1"/>
          <p:nvPr/>
        </p:nvSpPr>
        <p:spPr>
          <a:xfrm>
            <a:off x="9189720" y="3803904"/>
            <a:ext cx="246888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2B3550"/>
                </a:solidFill>
              </a:rPr>
              <a:t>상·중·하를 눌러 체크해요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5B6680"/>
                </a:solidFill>
              </a:rPr>
              <a:t>학부모님께는 보이지 않아요. 다시 누르면 지워져요</a:t>
            </a:r>
            <a:endParaRPr lang="en-US" sz="1500" dirty="0"/>
          </a:p>
        </p:txBody>
      </p:sp>
      <p:sp>
        <p:nvSpPr>
          <p:cNvPr id="18" name="num4"/>
          <p:cNvSpPr/>
          <p:nvPr/>
        </p:nvSpPr>
        <p:spPr>
          <a:xfrm>
            <a:off x="8641080" y="5047488"/>
            <a:ext cx="384048" cy="384048"/>
          </a:xfrm>
          <a:prstGeom prst="ellipse">
            <a:avLst/>
          </a:prstGeom>
          <a:solidFill>
            <a:srgbClr val="D9533A"/>
          </a:solidFill>
          <a:ln w="12700">
            <a:solidFill>
              <a:srgbClr val="D9533A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8641080" y="50474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4</a:t>
            </a:r>
            <a:endParaRPr lang="en-US" sz="1600" dirty="0"/>
          </a:p>
        </p:txBody>
      </p:sp>
      <p:sp>
        <p:nvSpPr>
          <p:cNvPr id="20" name="Text 16"/>
          <p:cNvSpPr txBox="1"/>
          <p:nvPr/>
        </p:nvSpPr>
        <p:spPr>
          <a:xfrm>
            <a:off x="9189720" y="4992624"/>
            <a:ext cx="246888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2B3550"/>
                </a:solidFill>
              </a:rPr>
              <a:t>덧붙일 말은 선택이에요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5B6680"/>
                </a:solidFill>
              </a:rPr>
              <a:t>적으면 문장 끝에 그대로 들어가요</a:t>
            </a:r>
            <a:endParaRPr lang="en-US" sz="1500" dirty="0"/>
          </a:p>
        </p:txBody>
      </p:sp>
      <p:sp>
        <p:nvSpPr>
          <p:cNvPr id="21" name="card"/>
          <p:cNvSpPr/>
          <p:nvPr/>
        </p:nvSpPr>
        <p:spPr>
          <a:xfrm>
            <a:off x="548640" y="4023360"/>
            <a:ext cx="3611880" cy="914400"/>
          </a:xfrm>
          <a:prstGeom prst="roundRect">
            <a:avLst>
              <a:gd name="adj" fmla="val 14000"/>
            </a:avLst>
          </a:prstGeom>
          <a:solidFill>
            <a:srgbClr val="FFF4D6"/>
          </a:solidFill>
          <a:ln w="9525">
            <a:solidFill>
              <a:srgbClr val="DDE2EA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731520" y="4069080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B3550"/>
                </a:solidFill>
              </a:rPr>
              <a:t>체크하지 않은 항목은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B3550"/>
                </a:solidFill>
              </a:rPr>
              <a:t>문장에 넣지 않아요. 필요한 항목만 눌러 주세요.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4A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9692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'문장 만들기'를 누르고 다듬어요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10241280" y="457200"/>
            <a:ext cx="1417320" cy="438912"/>
          </a:xfrm>
          <a:prstGeom prst="roundRect">
            <a:avLst>
              <a:gd name="adj" fmla="val 50000"/>
            </a:avLst>
          </a:prstGeom>
          <a:solidFill>
            <a:srgbClr val="EAF1FC"/>
          </a:solidFill>
          <a:ln w="12700">
            <a:solidFill>
              <a:srgbClr val="EAF1F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0241280" y="457200"/>
            <a:ext cx="1417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A7BD0"/>
                </a:solidFill>
              </a:rPr>
              <a:t>3단계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58368" y="1298448"/>
            <a:ext cx="3672375" cy="4855464"/>
          </a:xfrm>
          <a:prstGeom prst="roundRect">
            <a:avLst>
              <a:gd name="adj" fmla="val 2988"/>
            </a:avLst>
          </a:prstGeom>
          <a:solidFill>
            <a:srgbClr val="FFFFFF"/>
          </a:solidFill>
          <a:ln w="12700">
            <a:solidFill>
              <a:srgbClr val="C9D0DC"/>
            </a:solidFill>
            <a:prstDash val="solid"/>
          </a:ln>
          <a:effectLst>
            <a:outerShdw sx="100000" sy="100000" kx="0" ky="0" algn="bl" rotWithShape="0" blurRad="101600" dist="38100" dir="5400000">
              <a:srgbClr val="1F2A4A">
                <a:alpha val="18000"/>
              </a:srgbClr>
            </a:outerShdw>
          </a:effectLst>
        </p:spPr>
      </p:sp>
      <p:pic>
        <p:nvPicPr>
          <p:cNvPr id="6" name="Image 0" descr="문장 만들기와 인사말 고르기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371600"/>
            <a:ext cx="3526071" cy="4709160"/>
          </a:xfrm>
          <a:prstGeom prst="rect">
            <a:avLst/>
          </a:prstGeom>
        </p:spPr>
      </p:pic>
      <p:sp>
        <p:nvSpPr>
          <p:cNvPr id="7" name="num1"/>
          <p:cNvSpPr/>
          <p:nvPr/>
        </p:nvSpPr>
        <p:spPr>
          <a:xfrm>
            <a:off x="4297680" y="1481328"/>
            <a:ext cx="384048" cy="384048"/>
          </a:xfrm>
          <a:prstGeom prst="ellipse">
            <a:avLst/>
          </a:prstGeom>
          <a:solidFill>
            <a:srgbClr val="D9533A"/>
          </a:solidFill>
          <a:ln w="12700">
            <a:solidFill>
              <a:srgbClr val="D9533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4297680" y="14813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4846320" y="1426464"/>
            <a:ext cx="676656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b="1" dirty="0">
                <a:solidFill>
                  <a:srgbClr val="2B3550"/>
                </a:solidFill>
              </a:rPr>
              <a:t>수업 내용으로 시작하는 문장이 들어가요</a:t>
            </a:r>
            <a:endParaRPr lang="en-US" sz="17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5B6680"/>
                </a:solidFill>
              </a:rPr>
              <a:t>읽은 책과 활동 → 체크한 항목 → 마지막 인사말 순서예요</a:t>
            </a:r>
            <a:endParaRPr lang="en-US" sz="1700" dirty="0"/>
          </a:p>
        </p:txBody>
      </p:sp>
      <p:sp>
        <p:nvSpPr>
          <p:cNvPr id="10" name="num2"/>
          <p:cNvSpPr/>
          <p:nvPr/>
        </p:nvSpPr>
        <p:spPr>
          <a:xfrm>
            <a:off x="4297680" y="2578608"/>
            <a:ext cx="384048" cy="384048"/>
          </a:xfrm>
          <a:prstGeom prst="ellipse">
            <a:avLst/>
          </a:prstGeom>
          <a:solidFill>
            <a:srgbClr val="D9533A"/>
          </a:solidFill>
          <a:ln w="12700">
            <a:solidFill>
              <a:srgbClr val="D9533A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297680" y="25786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2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4846320" y="2523744"/>
            <a:ext cx="676656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b="1" dirty="0">
                <a:solidFill>
                  <a:srgbClr val="2B3550"/>
                </a:solidFill>
              </a:rPr>
              <a:t>마지막 인사말을 눌러서 골라요</a:t>
            </a:r>
            <a:endParaRPr lang="en-US" sz="17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5B6680"/>
                </a:solidFill>
              </a:rPr>
              <a:t>아래 칸에 내 인사말을 추가할 수도 있어요 (내 기기에 저장)</a:t>
            </a:r>
            <a:endParaRPr lang="en-US" sz="1700" dirty="0"/>
          </a:p>
        </p:txBody>
      </p:sp>
      <p:sp>
        <p:nvSpPr>
          <p:cNvPr id="13" name="num3"/>
          <p:cNvSpPr/>
          <p:nvPr/>
        </p:nvSpPr>
        <p:spPr>
          <a:xfrm>
            <a:off x="4297680" y="3675888"/>
            <a:ext cx="384048" cy="384048"/>
          </a:xfrm>
          <a:prstGeom prst="ellipse">
            <a:avLst/>
          </a:prstGeom>
          <a:solidFill>
            <a:srgbClr val="D9533A"/>
          </a:solidFill>
          <a:ln w="12700">
            <a:solidFill>
              <a:srgbClr val="D9533A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297680" y="36758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3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4846320" y="3621024"/>
            <a:ext cx="676656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b="1" dirty="0">
                <a:solidFill>
                  <a:srgbClr val="2B3550"/>
                </a:solidFill>
              </a:rPr>
              <a:t>'다른 표현으로'를 누르면 표현이 바뀌어요</a:t>
            </a:r>
            <a:endParaRPr lang="en-US" sz="17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5B6680"/>
                </a:solidFill>
              </a:rPr>
              <a:t>같은 반 친구들 문장이 겹치지 않게 골라 주세요</a:t>
            </a:r>
            <a:endParaRPr lang="en-US" sz="1700" dirty="0"/>
          </a:p>
        </p:txBody>
      </p:sp>
      <p:sp>
        <p:nvSpPr>
          <p:cNvPr id="16" name="num4"/>
          <p:cNvSpPr/>
          <p:nvPr/>
        </p:nvSpPr>
        <p:spPr>
          <a:xfrm>
            <a:off x="4297680" y="4773168"/>
            <a:ext cx="384048" cy="384048"/>
          </a:xfrm>
          <a:prstGeom prst="ellipse">
            <a:avLst/>
          </a:prstGeom>
          <a:solidFill>
            <a:srgbClr val="D9533A"/>
          </a:solidFill>
          <a:ln w="12700">
            <a:solidFill>
              <a:srgbClr val="D9533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4297680" y="47731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4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4846320" y="4718304"/>
            <a:ext cx="676656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b="1" dirty="0">
                <a:solidFill>
                  <a:srgbClr val="2B3550"/>
                </a:solidFill>
              </a:rPr>
              <a:t>문장은 눌러서 직접 고쳐요</a:t>
            </a:r>
            <a:endParaRPr lang="en-US" sz="17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5B6680"/>
                </a:solidFill>
              </a:rPr>
              <a:t>고친 문장은 그대로 이미지에 들어가고, 다시 만들기 전에 한 번 물어봐요</a:t>
            </a:r>
            <a:endParaRPr lang="en-US" sz="1700" dirty="0"/>
          </a:p>
        </p:txBody>
      </p:sp>
      <p:sp>
        <p:nvSpPr>
          <p:cNvPr id="19" name="card"/>
          <p:cNvSpPr/>
          <p:nvPr/>
        </p:nvSpPr>
        <p:spPr>
          <a:xfrm>
            <a:off x="4297680" y="5532120"/>
            <a:ext cx="7315200" cy="640080"/>
          </a:xfrm>
          <a:prstGeom prst="roundRect">
            <a:avLst>
              <a:gd name="adj" fmla="val 20000"/>
            </a:avLst>
          </a:prstGeom>
          <a:solidFill>
            <a:srgbClr val="EAF1FC"/>
          </a:solidFill>
          <a:ln w="9525">
            <a:solidFill>
              <a:srgbClr val="DDE2EA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480560" y="5532120"/>
            <a:ext cx="7040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A4A"/>
                </a:solidFill>
              </a:rPr>
              <a:t>미리 만들어 둔 문장이라 Claude 사용량이 들지 않아요. '문장 복사'로 카톡에 붙여 넣을 수도 있어요.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4A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9692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이미지로 저장해서 보내요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10241280" y="457200"/>
            <a:ext cx="1417320" cy="438912"/>
          </a:xfrm>
          <a:prstGeom prst="roundRect">
            <a:avLst>
              <a:gd name="adj" fmla="val 50000"/>
            </a:avLst>
          </a:prstGeom>
          <a:solidFill>
            <a:srgbClr val="EAF1FC"/>
          </a:solidFill>
          <a:ln w="12700">
            <a:solidFill>
              <a:srgbClr val="EAF1F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0241280" y="457200"/>
            <a:ext cx="1417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A7BD0"/>
                </a:solidFill>
              </a:rPr>
              <a:t>4단계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58368" y="1298448"/>
            <a:ext cx="2687980" cy="4855464"/>
          </a:xfrm>
          <a:prstGeom prst="roundRect">
            <a:avLst>
              <a:gd name="adj" fmla="val 4082"/>
            </a:avLst>
          </a:prstGeom>
          <a:solidFill>
            <a:srgbClr val="FFFFFF"/>
          </a:solidFill>
          <a:ln w="12700">
            <a:solidFill>
              <a:srgbClr val="C9D0DC"/>
            </a:solidFill>
            <a:prstDash val="solid"/>
          </a:ln>
          <a:effectLst>
            <a:outerShdw sx="100000" sy="100000" kx="0" ky="0" algn="bl" rotWithShape="0" blurRad="101600" dist="38100" dir="5400000">
              <a:srgbClr val="1F2A4A">
                <a:alpha val="18000"/>
              </a:srgbClr>
            </a:outerShdw>
          </a:effectLst>
        </p:spPr>
      </p:sp>
      <p:pic>
        <p:nvPicPr>
          <p:cNvPr id="6" name="Image 0" descr="피드백이 들어간 이미지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371600"/>
            <a:ext cx="2541676" cy="470916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3858768" y="1298448"/>
            <a:ext cx="2889504" cy="2965704"/>
          </a:xfrm>
          <a:prstGeom prst="roundRect">
            <a:avLst>
              <a:gd name="adj" fmla="val 3797"/>
            </a:avLst>
          </a:prstGeom>
          <a:solidFill>
            <a:srgbClr val="FFFFFF"/>
          </a:solidFill>
          <a:ln w="12700">
            <a:solidFill>
              <a:srgbClr val="C9D0DC"/>
            </a:solidFill>
            <a:prstDash val="solid"/>
          </a:ln>
          <a:effectLst>
            <a:outerShdw sx="100000" sy="100000" kx="0" ky="0" algn="bl" rotWithShape="0" blurRad="101600" dist="38100" dir="5400000">
              <a:srgbClr val="1F2A4A">
                <a:alpha val="18000"/>
              </a:srgbClr>
            </a:outerShdw>
          </a:effectLst>
        </p:spPr>
      </p:sp>
      <p:pic>
        <p:nvPicPr>
          <p:cNvPr id="8" name="Image 1" descr="차시 하나만 들어간 이미지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31920" y="1371600"/>
            <a:ext cx="2743200" cy="281940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3840480" y="544068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680"/>
                </a:solidFill>
              </a:rPr>
              <a:t>한 달 전체 (왼쪽)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5B6680"/>
                </a:solidFill>
              </a:rPr>
              <a:t>차시 하나 (오른쪽)</a:t>
            </a:r>
            <a:endParaRPr lang="en-US" sz="1300" dirty="0"/>
          </a:p>
        </p:txBody>
      </p:sp>
      <p:sp>
        <p:nvSpPr>
          <p:cNvPr id="10" name="num1"/>
          <p:cNvSpPr/>
          <p:nvPr/>
        </p:nvSpPr>
        <p:spPr>
          <a:xfrm>
            <a:off x="7223760" y="1481328"/>
            <a:ext cx="384048" cy="384048"/>
          </a:xfrm>
          <a:prstGeom prst="ellipse">
            <a:avLst/>
          </a:prstGeom>
          <a:solidFill>
            <a:srgbClr val="D9533A"/>
          </a:solidFill>
          <a:ln w="12700">
            <a:solidFill>
              <a:srgbClr val="D9533A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7223760" y="14813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sp>
        <p:nvSpPr>
          <p:cNvPr id="12" name="Text 8"/>
          <p:cNvSpPr txBox="1"/>
          <p:nvPr/>
        </p:nvSpPr>
        <p:spPr>
          <a:xfrm>
            <a:off x="7772400" y="1426464"/>
            <a:ext cx="3840480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b="1" dirty="0">
                <a:solidFill>
                  <a:srgbClr val="2B3550"/>
                </a:solidFill>
              </a:rPr>
              <a:t>'이미지 저장'을 눌러요</a:t>
            </a:r>
            <a:endParaRPr lang="en-US" sz="17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5B6680"/>
                </a:solidFill>
              </a:rPr>
              <a:t>고른 범위의 수업 소개와 피드백이 한 장에 들어가요</a:t>
            </a:r>
            <a:endParaRPr lang="en-US" sz="1700" dirty="0"/>
          </a:p>
        </p:txBody>
      </p:sp>
      <p:sp>
        <p:nvSpPr>
          <p:cNvPr id="13" name="num2"/>
          <p:cNvSpPr/>
          <p:nvPr/>
        </p:nvSpPr>
        <p:spPr>
          <a:xfrm>
            <a:off x="7223760" y="2807208"/>
            <a:ext cx="384048" cy="384048"/>
          </a:xfrm>
          <a:prstGeom prst="ellipse">
            <a:avLst/>
          </a:prstGeom>
          <a:solidFill>
            <a:srgbClr val="1F2A4A"/>
          </a:solidFill>
          <a:ln w="12700">
            <a:solidFill>
              <a:srgbClr val="1F2A4A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7223760" y="2807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2</a:t>
            </a:r>
            <a:endParaRPr lang="en-US" sz="1600" dirty="0"/>
          </a:p>
        </p:txBody>
      </p:sp>
      <p:sp>
        <p:nvSpPr>
          <p:cNvPr id="15" name="Text 11"/>
          <p:cNvSpPr txBox="1"/>
          <p:nvPr/>
        </p:nvSpPr>
        <p:spPr>
          <a:xfrm>
            <a:off x="7772400" y="2752344"/>
            <a:ext cx="3840480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b="1" dirty="0">
                <a:solidFill>
                  <a:srgbClr val="2B3550"/>
                </a:solidFill>
              </a:rPr>
              <a:t>학부모님께 카톡으로 보내요</a:t>
            </a:r>
            <a:endParaRPr lang="en-US" sz="1700" dirty="0"/>
          </a:p>
        </p:txBody>
      </p:sp>
      <p:sp>
        <p:nvSpPr>
          <p:cNvPr id="16" name="num3"/>
          <p:cNvSpPr/>
          <p:nvPr/>
        </p:nvSpPr>
        <p:spPr>
          <a:xfrm>
            <a:off x="7223760" y="4133088"/>
            <a:ext cx="384048" cy="384048"/>
          </a:xfrm>
          <a:prstGeom prst="ellipse">
            <a:avLst/>
          </a:prstGeom>
          <a:solidFill>
            <a:srgbClr val="D9533A"/>
          </a:solidFill>
          <a:ln w="12700">
            <a:solidFill>
              <a:srgbClr val="D9533A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7223760" y="41330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3</a:t>
            </a:r>
            <a:endParaRPr lang="en-US" sz="1600" dirty="0"/>
          </a:p>
        </p:txBody>
      </p:sp>
      <p:sp>
        <p:nvSpPr>
          <p:cNvPr id="18" name="Text 14"/>
          <p:cNvSpPr txBox="1"/>
          <p:nvPr/>
        </p:nvSpPr>
        <p:spPr>
          <a:xfrm>
            <a:off x="7772400" y="4078224"/>
            <a:ext cx="3840480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b="1" dirty="0">
                <a:solidFill>
                  <a:srgbClr val="2B3550"/>
                </a:solidFill>
              </a:rPr>
              <a:t>피드백 없이 수업 소개만 보내도 돼요</a:t>
            </a:r>
            <a:endParaRPr lang="en-US" sz="17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5B6680"/>
                </a:solidFill>
              </a:rPr>
              <a:t>체크를 안 하고 저장하면 맨 아래 칸이 빠져요</a:t>
            </a:r>
            <a:endParaRPr lang="en-US" sz="1700" dirty="0"/>
          </a:p>
        </p:txBody>
      </p:sp>
      <p:sp>
        <p:nvSpPr>
          <p:cNvPr id="19" name="card"/>
          <p:cNvSpPr/>
          <p:nvPr/>
        </p:nvSpPr>
        <p:spPr>
          <a:xfrm>
            <a:off x="7223760" y="5440680"/>
            <a:ext cx="4389120" cy="731520"/>
          </a:xfrm>
          <a:prstGeom prst="roundRect">
            <a:avLst>
              <a:gd name="adj" fmla="val 17500"/>
            </a:avLst>
          </a:prstGeom>
          <a:solidFill>
            <a:srgbClr val="EAF1FC"/>
          </a:solidFill>
          <a:ln w="9525">
            <a:solidFill>
              <a:srgbClr val="DDE2EA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7406640" y="5440680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A4A"/>
                </a:solidFill>
              </a:rPr>
              <a:t>체크한 내용은 저장되지 않아요. 다른 학생을 고르면 새로 시작해요.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4A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14173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이제 바로 써 보세요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3774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6DFF0"/>
                </a:solidFill>
              </a:rPr>
              <a:t>QR 코드나 링크로 열고, 엑셀 양식부터 받아 시작하면 돼요.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640080" y="3246120"/>
            <a:ext cx="2651760" cy="2651760"/>
          </a:xfrm>
          <a:prstGeom prst="roundRect">
            <a:avLst>
              <a:gd name="adj" fmla="val 482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5" name="Image 0" descr="수업 도우미 QR 코드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3383280"/>
            <a:ext cx="2377440" cy="237744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40080" y="598932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AFC3EA"/>
                </a:solidFill>
              </a:rPr>
              <a:t>한우리 수업도우미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3657600" y="3383280"/>
            <a:ext cx="6858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D6DFF0"/>
                </a:solidFill>
              </a:rPr>
              <a:t>수업계획서 · 숙제 안내문 · 피드백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D6DFF0"/>
                </a:solidFill>
              </a:rPr>
              <a:t>엑셀 양식은 페이지 맨 위 '양식·안내 받기'에서 받아요.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3657600" y="5074920"/>
            <a:ext cx="7863840" cy="0"/>
          </a:xfrm>
          <a:prstGeom prst="line">
            <a:avLst/>
          </a:prstGeom>
          <a:noFill/>
          <a:ln w="12700">
            <a:solidFill>
              <a:srgbClr val="3D4E7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657600" y="530352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한우리 안산단원지부 드림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Hanuri Danwon">
  <a:themeElements>
    <a:clrScheme name="Hanuri Danwon">
      <a:dk1>
        <a:srgbClr val="222A3D"/>
      </a:dk1>
      <a:lt1>
        <a:srgbClr val="FFFFFF"/>
      </a:lt1>
      <a:dk2>
        <a:srgbClr val="1F2A4A"/>
      </a:dk2>
      <a:lt2>
        <a:srgbClr val="F4F6FA"/>
      </a:lt2>
      <a:accent1>
        <a:srgbClr val="1F2A4A"/>
      </a:accent1>
      <a:accent2>
        <a:srgbClr val="4A7BD0"/>
      </a:accent2>
      <a:accent3>
        <a:srgbClr val="E07A3F"/>
      </a:accent3>
      <a:accent4>
        <a:srgbClr val="6B8E5A"/>
      </a:accent4>
      <a:accent5>
        <a:srgbClr val="9AA6BF"/>
      </a:accent5>
      <a:accent6>
        <a:srgbClr val="C0392B"/>
      </a:accent6>
      <a:hlink>
        <a:srgbClr val="4A7BD0"/>
      </a:hlink>
      <a:folHlink>
        <a:srgbClr val="6B7590"/>
      </a:folHlink>
    </a:clrScheme>
    <a:fontScheme name="Hanuri Danwon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한우리 수업도우미 사용 안내</dc:title>
  <dc:subject>PptxGenJS Presentation</dc:subject>
  <dc:creator>한우리 수업도우미</dc:creator>
  <cp:lastModifiedBy>한우리 수업도우미</cp:lastModifiedBy>
  <cp:revision>1</cp:revision>
  <dcterms:created xsi:type="dcterms:W3CDTF">2026-10-22T03:07:02Z</dcterms:created>
  <dcterms:modified xsi:type="dcterms:W3CDTF">2026-10-22T03:07:02Z</dcterms:modified>
</cp:coreProperties>
</file>